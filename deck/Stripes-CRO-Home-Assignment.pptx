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659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HOME ASSIGNMENT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23317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 Product &amp; CRO Manager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054096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Assignment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3493008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thinking, CRO strategy and launch execution for Stripes Beauty.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16168" y="4114800"/>
            <a:ext cx="365760" cy="0"/>
          </a:xfrm>
          <a:prstGeom prst="line">
            <a:avLst/>
          </a:prstGeom>
          <a:noFill/>
          <a:ln w="19050">
            <a:solidFill>
              <a:srgbClr val="DCE2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37083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20" kern="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4645152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Yoav Gersi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50292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3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2026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120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STRIPES GROWTH CASE STUDY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inside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35024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parts - from understanding the market to launching the hero product, optimizing the funnel, and scaling the work with AI.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1965960"/>
            <a:ext cx="5239512" cy="1783080"/>
          </a:xfrm>
          <a:prstGeom prst="roundRect">
            <a:avLst>
              <a:gd name="adj" fmla="val 5641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24128" y="227685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874520" y="229514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74520" y="2532888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&amp; Competitive Landscape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874520" y="3026664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Stripes competes with, and how brands in the category acquire customers.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965960"/>
            <a:ext cx="5239512" cy="1783080"/>
          </a:xfrm>
          <a:prstGeom prst="roundRect">
            <a:avLst>
              <a:gd name="adj" fmla="val 5641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10528" y="227685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7360920" y="229514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60920" y="2532888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Hero Product Launch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360920" y="3026664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creative angle, campaign landing page, funnel and KPIs for The Inside Addition.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3959352"/>
            <a:ext cx="5239512" cy="1783080"/>
          </a:xfrm>
          <a:prstGeom prst="roundRect">
            <a:avLst>
              <a:gd name="adj" fmla="val 5641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024128" y="427024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1874520" y="428853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874520" y="452628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Funnel Optimization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874520" y="5020056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A/B experiments I'd prioritize on stripesbeauty.us.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0" y="3959352"/>
            <a:ext cx="5239512" cy="1783080"/>
          </a:xfrm>
          <a:prstGeom prst="roundRect">
            <a:avLst>
              <a:gd name="adj" fmla="val 5641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10528" y="427024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7360920" y="428853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360920" y="452628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Approach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60920" y="5020056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AI capability I'd build to help the growth team decide what to build next.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84832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200" dirty="0"/>
          </a:p>
        </p:txBody>
      </p:sp>
      <p:sp>
        <p:nvSpPr>
          <p:cNvPr id="3" name="Shape 1"/>
          <p:cNvSpPr/>
          <p:nvPr/>
        </p:nvSpPr>
        <p:spPr>
          <a:xfrm>
            <a:off x="3767328" y="2331720"/>
            <a:ext cx="0" cy="2240280"/>
          </a:xfrm>
          <a:prstGeom prst="line">
            <a:avLst/>
          </a:prstGeom>
          <a:noFill/>
          <a:ln w="19050">
            <a:solidFill>
              <a:srgbClr val="E4EA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60520" y="23957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60520" y="2724912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Understanding the market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160520" y="3493008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thinking about growth opportunities, I wanted to understand who Stripes competes with, who it's built for, and how brands in this space acquire customers.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120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OVERVIEW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Stripes really competing with?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5257800" cy="3063240"/>
          </a:xfrm>
          <a:prstGeom prst="roundRect">
            <a:avLst>
              <a:gd name="adj" fmla="val 3284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24128" y="202996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CATEGORY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24128" y="23591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Women's Health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24128" y="27614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C2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24128" y="30723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Menopause Wellness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024128" y="3657600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Stripes isn't built around solving one symptom. It's built around </a:t>
            </a:r>
            <a:pPr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women throughout menopause</a:t>
            </a:r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99632" y="1783080"/>
            <a:ext cx="5257800" cy="3063240"/>
          </a:xfrm>
          <a:prstGeom prst="roundRect">
            <a:avLst>
              <a:gd name="adj" fmla="val 3284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92240" y="202996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CUSTOMER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92240" y="2340864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 experiencing peri- or post-menopause looking for: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10528" y="3172968"/>
            <a:ext cx="91440" cy="91440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14" name="Text 12"/>
          <p:cNvSpPr/>
          <p:nvPr/>
        </p:nvSpPr>
        <p:spPr>
          <a:xfrm>
            <a:off x="6729984" y="31089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Everyday wellness support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510528" y="3630168"/>
            <a:ext cx="91440" cy="91440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16" name="Text 14"/>
          <p:cNvSpPr/>
          <p:nvPr/>
        </p:nvSpPr>
        <p:spPr>
          <a:xfrm>
            <a:off x="6729984" y="35661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Non-hormonal solutions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510528" y="4087368"/>
            <a:ext cx="91440" cy="91440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18" name="Text 16"/>
          <p:cNvSpPr/>
          <p:nvPr/>
        </p:nvSpPr>
        <p:spPr>
          <a:xfrm>
            <a:off x="6729984" y="40233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that fit naturally into their routine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731520" y="5074920"/>
            <a:ext cx="10725912" cy="841248"/>
          </a:xfrm>
          <a:prstGeom prst="roundRect">
            <a:avLst>
              <a:gd name="adj" fmla="val 14130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24128" y="5074920"/>
            <a:ext cx="1417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9FC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FRAMEWORK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514600" y="5074920"/>
            <a:ext cx="8577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A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became the framework I used to decide which brands belonged in the competitive analysis.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120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APPROACH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 selected competitors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27632"/>
            <a:ext cx="5239512" cy="105156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8288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3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CRITERION 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05840" y="2066544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customer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239572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 experiencing menopause.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1627632"/>
            <a:ext cx="5239512" cy="105156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18288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3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CRITERION 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92240" y="2066544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job to be done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239572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Helping women manage menopause-related symptoms.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2852928"/>
            <a:ext cx="10725912" cy="658368"/>
          </a:xfrm>
          <a:prstGeom prst="roundRect">
            <a:avLst>
              <a:gd name="adj" fmla="val 15278"/>
            </a:avLst>
          </a:prstGeom>
          <a:solidFill>
            <a:srgbClr val="F7F9FC"/>
          </a:solidFill>
          <a:ln w="9525">
            <a:solidFill>
              <a:srgbClr val="ED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87552" y="3054096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0A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987552" y="30540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17320" y="2852928"/>
            <a:ext cx="9144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brand met both conditions, it was included.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3730752"/>
            <a:ext cx="5239512" cy="16002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005840" y="3968496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EEF1FE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3968496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05840" y="4389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competitors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05840" y="4754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 focused primarily on menopause wellness.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3730752"/>
            <a:ext cx="5239512" cy="16002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92240" y="396849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/>
        </p:spPr>
      </p:sp>
      <p:sp>
        <p:nvSpPr>
          <p:cNvPr id="23" name="Text 21"/>
          <p:cNvSpPr/>
          <p:nvPr/>
        </p:nvSpPr>
        <p:spPr>
          <a:xfrm>
            <a:off x="6492240" y="396849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20" kern="0" dirty="0">
                <a:solidFill>
                  <a:srgbClr val="5A6B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492240" y="4389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 competitors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492240" y="4754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Broader wellness brands competing for the same customer.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120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STOOD 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found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572768"/>
            <a:ext cx="3794760" cy="1417320"/>
          </a:xfrm>
          <a:prstGeom prst="roundRect">
            <a:avLst>
              <a:gd name="adj" fmla="val 7097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9264" y="171907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9264" y="19385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biggest brands weren't always the closest competitors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9264" y="2432304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Several high-traffic brands came from </a:t>
            </a:r>
            <a:pPr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 wellness categories</a:t>
            </a:r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rather than menopause-focused brands.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3063240"/>
            <a:ext cx="3794760" cy="1417320"/>
          </a:xfrm>
          <a:prstGeom prst="roundRect">
            <a:avLst>
              <a:gd name="adj" fmla="val 7097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9264" y="3209544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69264" y="34290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acquisition looks very different across brands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9264" y="392277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rely heavily on Search. Others invest more in Display or Social. </a:t>
            </a:r>
            <a:pPr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isn't a single winning channel.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4553712"/>
            <a:ext cx="3794760" cy="1417320"/>
          </a:xfrm>
          <a:prstGeom prst="roundRect">
            <a:avLst>
              <a:gd name="adj" fmla="val 7097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69264" y="470001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 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69264" y="491947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direct competitors don't follow the same playbook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69264" y="5413248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invest aggressively in paid acquisition. Others appear to rely much more on </a:t>
            </a:r>
            <a:pPr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organic growth</a:t>
            </a:r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09160" y="1572768"/>
            <a:ext cx="6748272" cy="4434840"/>
          </a:xfrm>
          <a:prstGeom prst="roundRect">
            <a:avLst>
              <a:gd name="adj" fmla="val 2268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965192" y="1783080"/>
            <a:ext cx="6217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EVIDENCE · PAID ACQUISITION BY BRAND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965192" y="221284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5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309360" y="22128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5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406640" y="221284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5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412480" y="221284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5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SHARE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241280" y="22128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5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CHANNEL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965192" y="2450592"/>
            <a:ext cx="6236208" cy="0"/>
          </a:xfrm>
          <a:prstGeom prst="line">
            <a:avLst/>
          </a:prstGeom>
          <a:noFill/>
          <a:ln w="12700">
            <a:solidFill>
              <a:srgbClr val="E7EB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65192" y="254203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Positiv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09360" y="2587752"/>
            <a:ext cx="749808" cy="201168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/>
        </p:spPr>
      </p:sp>
      <p:sp>
        <p:nvSpPr>
          <p:cNvPr id="26" name="Text 24"/>
          <p:cNvSpPr/>
          <p:nvPr/>
        </p:nvSpPr>
        <p:spPr>
          <a:xfrm>
            <a:off x="6309360" y="2587752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5A6B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7406640" y="254203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5.8M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412480" y="2642616"/>
            <a:ext cx="914400" cy="91440"/>
          </a:xfrm>
          <a:prstGeom prst="roundRect">
            <a:avLst>
              <a:gd name="adj" fmla="val 50000"/>
            </a:avLst>
          </a:prstGeom>
          <a:solidFill>
            <a:srgbClr val="EDF1F6"/>
          </a:solidFill>
          <a:ln/>
        </p:spPr>
      </p:sp>
      <p:sp>
        <p:nvSpPr>
          <p:cNvPr id="29" name="Shape 27"/>
          <p:cNvSpPr/>
          <p:nvPr/>
        </p:nvSpPr>
        <p:spPr>
          <a:xfrm>
            <a:off x="8412480" y="2642616"/>
            <a:ext cx="685800" cy="91440"/>
          </a:xfrm>
          <a:prstGeom prst="roundRect">
            <a:avLst>
              <a:gd name="adj" fmla="val 50000"/>
            </a:avLst>
          </a:prstGeom>
          <a:solidFill>
            <a:srgbClr val="0A2540"/>
          </a:solidFill>
          <a:ln/>
        </p:spPr>
      </p:sp>
      <p:sp>
        <p:nvSpPr>
          <p:cNvPr id="30" name="Text 28"/>
          <p:cNvSpPr/>
          <p:nvPr/>
        </p:nvSpPr>
        <p:spPr>
          <a:xfrm>
            <a:off x="9464040" y="254203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241280" y="2542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Display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965192" y="2889504"/>
            <a:ext cx="6236208" cy="0"/>
          </a:xfrm>
          <a:prstGeom prst="line">
            <a:avLst/>
          </a:prstGeom>
          <a:noFill/>
          <a:ln w="6350">
            <a:solidFill>
              <a:srgbClr val="EDF0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65192" y="290779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Midi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09360" y="2953512"/>
            <a:ext cx="749808" cy="201168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/>
        </p:spPr>
      </p:sp>
      <p:sp>
        <p:nvSpPr>
          <p:cNvPr id="35" name="Text 33"/>
          <p:cNvSpPr/>
          <p:nvPr/>
        </p:nvSpPr>
        <p:spPr>
          <a:xfrm>
            <a:off x="6309360" y="2953512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5A6B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7406640" y="290779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3.6M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412480" y="3008376"/>
            <a:ext cx="914400" cy="91440"/>
          </a:xfrm>
          <a:prstGeom prst="roundRect">
            <a:avLst>
              <a:gd name="adj" fmla="val 50000"/>
            </a:avLst>
          </a:prstGeom>
          <a:solidFill>
            <a:srgbClr val="EDF1F6"/>
          </a:solidFill>
          <a:ln/>
        </p:spPr>
      </p:sp>
      <p:sp>
        <p:nvSpPr>
          <p:cNvPr id="38" name="Shape 36"/>
          <p:cNvSpPr/>
          <p:nvPr/>
        </p:nvSpPr>
        <p:spPr>
          <a:xfrm>
            <a:off x="8412480" y="3008376"/>
            <a:ext cx="237744" cy="91440"/>
          </a:xfrm>
          <a:prstGeom prst="roundRect">
            <a:avLst>
              <a:gd name="adj" fmla="val 50000"/>
            </a:avLst>
          </a:prstGeom>
          <a:solidFill>
            <a:srgbClr val="0A2540"/>
          </a:solidFill>
          <a:ln/>
        </p:spPr>
      </p:sp>
      <p:sp>
        <p:nvSpPr>
          <p:cNvPr id="39" name="Text 37"/>
          <p:cNvSpPr/>
          <p:nvPr/>
        </p:nvSpPr>
        <p:spPr>
          <a:xfrm>
            <a:off x="9464040" y="29077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26%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0241280" y="290779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965192" y="3255264"/>
            <a:ext cx="6236208" cy="0"/>
          </a:xfrm>
          <a:prstGeom prst="line">
            <a:avLst/>
          </a:prstGeom>
          <a:noFill/>
          <a:ln w="6350">
            <a:solidFill>
              <a:srgbClr val="EDF0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65192" y="32735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Happy Mammoth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09360" y="3319272"/>
            <a:ext cx="749808" cy="201168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/>
        </p:spPr>
      </p:sp>
      <p:sp>
        <p:nvSpPr>
          <p:cNvPr id="44" name="Text 42"/>
          <p:cNvSpPr/>
          <p:nvPr/>
        </p:nvSpPr>
        <p:spPr>
          <a:xfrm>
            <a:off x="6309360" y="3319272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5A6B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7406640" y="32735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2.5M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412480" y="3374136"/>
            <a:ext cx="914400" cy="91440"/>
          </a:xfrm>
          <a:prstGeom prst="roundRect">
            <a:avLst>
              <a:gd name="adj" fmla="val 50000"/>
            </a:avLst>
          </a:prstGeom>
          <a:solidFill>
            <a:srgbClr val="EDF1F6"/>
          </a:solidFill>
          <a:ln/>
        </p:spPr>
      </p:sp>
      <p:sp>
        <p:nvSpPr>
          <p:cNvPr id="47" name="Shape 45"/>
          <p:cNvSpPr/>
          <p:nvPr/>
        </p:nvSpPr>
        <p:spPr>
          <a:xfrm>
            <a:off x="8412480" y="3374136"/>
            <a:ext cx="484632" cy="91440"/>
          </a:xfrm>
          <a:prstGeom prst="roundRect">
            <a:avLst>
              <a:gd name="adj" fmla="val 50000"/>
            </a:avLst>
          </a:prstGeom>
          <a:solidFill>
            <a:srgbClr val="0A2540"/>
          </a:solidFill>
          <a:ln/>
        </p:spPr>
      </p:sp>
      <p:sp>
        <p:nvSpPr>
          <p:cNvPr id="48" name="Text 46"/>
          <p:cNvSpPr/>
          <p:nvPr/>
        </p:nvSpPr>
        <p:spPr>
          <a:xfrm>
            <a:off x="9464040" y="327355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53%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10241280" y="32735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965192" y="3621024"/>
            <a:ext cx="6236208" cy="0"/>
          </a:xfrm>
          <a:prstGeom prst="line">
            <a:avLst/>
          </a:prstGeom>
          <a:noFill/>
          <a:ln w="6350">
            <a:solidFill>
              <a:srgbClr val="EDF0F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965192" y="36393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309360" y="3685032"/>
            <a:ext cx="749808" cy="201168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/>
        </p:spPr>
      </p:sp>
      <p:sp>
        <p:nvSpPr>
          <p:cNvPr id="53" name="Text 51"/>
          <p:cNvSpPr/>
          <p:nvPr/>
        </p:nvSpPr>
        <p:spPr>
          <a:xfrm>
            <a:off x="6309360" y="3685032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5A6B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7406640" y="36393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1.7M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8412480" y="3739896"/>
            <a:ext cx="914400" cy="91440"/>
          </a:xfrm>
          <a:prstGeom prst="roundRect">
            <a:avLst>
              <a:gd name="adj" fmla="val 50000"/>
            </a:avLst>
          </a:prstGeom>
          <a:solidFill>
            <a:srgbClr val="EDF1F6"/>
          </a:solidFill>
          <a:ln/>
        </p:spPr>
      </p:sp>
      <p:sp>
        <p:nvSpPr>
          <p:cNvPr id="56" name="Shape 54"/>
          <p:cNvSpPr/>
          <p:nvPr/>
        </p:nvSpPr>
        <p:spPr>
          <a:xfrm>
            <a:off x="8412480" y="3739896"/>
            <a:ext cx="356616" cy="91440"/>
          </a:xfrm>
          <a:prstGeom prst="roundRect">
            <a:avLst>
              <a:gd name="adj" fmla="val 50000"/>
            </a:avLst>
          </a:prstGeom>
          <a:solidFill>
            <a:srgbClr val="0A2540"/>
          </a:solidFill>
          <a:ln/>
        </p:spPr>
      </p:sp>
      <p:sp>
        <p:nvSpPr>
          <p:cNvPr id="57" name="Text 55"/>
          <p:cNvSpPr/>
          <p:nvPr/>
        </p:nvSpPr>
        <p:spPr>
          <a:xfrm>
            <a:off x="9464040" y="363931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39%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1024128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4965192" y="3986784"/>
            <a:ext cx="6236208" cy="0"/>
          </a:xfrm>
          <a:prstGeom prst="line">
            <a:avLst/>
          </a:prstGeom>
          <a:noFill/>
          <a:ln w="6350">
            <a:solidFill>
              <a:srgbClr val="EDF0F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965192" y="40050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Bonafide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6309360" y="4050792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EEF1FE"/>
          </a:solidFill>
          <a:ln/>
        </p:spPr>
      </p:sp>
      <p:sp>
        <p:nvSpPr>
          <p:cNvPr id="62" name="Text 60"/>
          <p:cNvSpPr/>
          <p:nvPr/>
        </p:nvSpPr>
        <p:spPr>
          <a:xfrm>
            <a:off x="6309360" y="4050792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</a:t>
            </a:r>
            <a:endParaRPr lang="en-US" sz="650" dirty="0"/>
          </a:p>
        </p:txBody>
      </p:sp>
      <p:sp>
        <p:nvSpPr>
          <p:cNvPr id="63" name="Text 61"/>
          <p:cNvSpPr/>
          <p:nvPr/>
        </p:nvSpPr>
        <p:spPr>
          <a:xfrm>
            <a:off x="7406640" y="40050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1.1M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8412480" y="4105656"/>
            <a:ext cx="914400" cy="91440"/>
          </a:xfrm>
          <a:prstGeom prst="roundRect">
            <a:avLst>
              <a:gd name="adj" fmla="val 50000"/>
            </a:avLst>
          </a:prstGeom>
          <a:solidFill>
            <a:srgbClr val="EDF1F6"/>
          </a:solidFill>
          <a:ln/>
        </p:spPr>
      </p:sp>
      <p:sp>
        <p:nvSpPr>
          <p:cNvPr id="65" name="Shape 63"/>
          <p:cNvSpPr/>
          <p:nvPr/>
        </p:nvSpPr>
        <p:spPr>
          <a:xfrm>
            <a:off x="8412480" y="4105656"/>
            <a:ext cx="384048" cy="91440"/>
          </a:xfrm>
          <a:prstGeom prst="roundRect">
            <a:avLst>
              <a:gd name="adj" fmla="val 50000"/>
            </a:avLst>
          </a:prstGeom>
          <a:solidFill>
            <a:srgbClr val="3E63DD"/>
          </a:solidFill>
          <a:ln/>
        </p:spPr>
      </p:sp>
      <p:sp>
        <p:nvSpPr>
          <p:cNvPr id="66" name="Text 64"/>
          <p:cNvSpPr/>
          <p:nvPr/>
        </p:nvSpPr>
        <p:spPr>
          <a:xfrm>
            <a:off x="9464040" y="40050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42%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10241280" y="400507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4965192" y="4352544"/>
            <a:ext cx="6236208" cy="0"/>
          </a:xfrm>
          <a:prstGeom prst="line">
            <a:avLst/>
          </a:prstGeom>
          <a:noFill/>
          <a:ln w="6350">
            <a:solidFill>
              <a:srgbClr val="EDF0F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965192" y="437083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Estroven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6309360" y="4416552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EEF1FE"/>
          </a:solidFill>
          <a:ln/>
        </p:spPr>
      </p:sp>
      <p:sp>
        <p:nvSpPr>
          <p:cNvPr id="71" name="Text 69"/>
          <p:cNvSpPr/>
          <p:nvPr/>
        </p:nvSpPr>
        <p:spPr>
          <a:xfrm>
            <a:off x="6309360" y="4416552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</a:t>
            </a:r>
            <a:endParaRPr lang="en-US" sz="650" dirty="0"/>
          </a:p>
        </p:txBody>
      </p:sp>
      <p:sp>
        <p:nvSpPr>
          <p:cNvPr id="72" name="Text 70"/>
          <p:cNvSpPr/>
          <p:nvPr/>
        </p:nvSpPr>
        <p:spPr>
          <a:xfrm>
            <a:off x="7406640" y="437083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253K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8412480" y="4471416"/>
            <a:ext cx="914400" cy="91440"/>
          </a:xfrm>
          <a:prstGeom prst="roundRect">
            <a:avLst>
              <a:gd name="adj" fmla="val 50000"/>
            </a:avLst>
          </a:prstGeom>
          <a:solidFill>
            <a:srgbClr val="EDF1F6"/>
          </a:solidFill>
          <a:ln/>
        </p:spPr>
      </p:sp>
      <p:sp>
        <p:nvSpPr>
          <p:cNvPr id="74" name="Shape 72"/>
          <p:cNvSpPr/>
          <p:nvPr/>
        </p:nvSpPr>
        <p:spPr>
          <a:xfrm>
            <a:off x="8412480" y="4471416"/>
            <a:ext cx="539496" cy="91440"/>
          </a:xfrm>
          <a:prstGeom prst="roundRect">
            <a:avLst>
              <a:gd name="adj" fmla="val 50000"/>
            </a:avLst>
          </a:prstGeom>
          <a:solidFill>
            <a:srgbClr val="3E63DD"/>
          </a:solidFill>
          <a:ln/>
        </p:spPr>
      </p:sp>
      <p:sp>
        <p:nvSpPr>
          <p:cNvPr id="75" name="Text 73"/>
          <p:cNvSpPr/>
          <p:nvPr/>
        </p:nvSpPr>
        <p:spPr>
          <a:xfrm>
            <a:off x="9464040" y="437083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59%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10241280" y="43708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</a:t>
            </a:r>
            <a:endParaRPr lang="en-US" sz="950" dirty="0"/>
          </a:p>
        </p:txBody>
      </p:sp>
      <p:sp>
        <p:nvSpPr>
          <p:cNvPr id="77" name="Shape 75"/>
          <p:cNvSpPr/>
          <p:nvPr/>
        </p:nvSpPr>
        <p:spPr>
          <a:xfrm>
            <a:off x="4965192" y="4718304"/>
            <a:ext cx="6236208" cy="0"/>
          </a:xfrm>
          <a:prstGeom prst="line">
            <a:avLst/>
          </a:prstGeom>
          <a:noFill/>
          <a:ln w="6350">
            <a:solidFill>
              <a:srgbClr val="EDF0F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965192" y="473659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Kindra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309360" y="4782312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EEF1FE"/>
          </a:solidFill>
          <a:ln/>
        </p:spPr>
      </p:sp>
      <p:sp>
        <p:nvSpPr>
          <p:cNvPr id="80" name="Text 78"/>
          <p:cNvSpPr/>
          <p:nvPr/>
        </p:nvSpPr>
        <p:spPr>
          <a:xfrm>
            <a:off x="6309360" y="4782312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</a:t>
            </a:r>
            <a:endParaRPr lang="en-US" sz="650" dirty="0"/>
          </a:p>
        </p:txBody>
      </p:sp>
      <p:sp>
        <p:nvSpPr>
          <p:cNvPr id="81" name="Text 79"/>
          <p:cNvSpPr/>
          <p:nvPr/>
        </p:nvSpPr>
        <p:spPr>
          <a:xfrm>
            <a:off x="7406640" y="473659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42K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8412480" y="4837176"/>
            <a:ext cx="914400" cy="91440"/>
          </a:xfrm>
          <a:prstGeom prst="roundRect">
            <a:avLst>
              <a:gd name="adj" fmla="val 50000"/>
            </a:avLst>
          </a:prstGeom>
          <a:solidFill>
            <a:srgbClr val="EDF1F6"/>
          </a:solidFill>
          <a:ln/>
        </p:spPr>
      </p:sp>
      <p:sp>
        <p:nvSpPr>
          <p:cNvPr id="83" name="Shape 81"/>
          <p:cNvSpPr/>
          <p:nvPr/>
        </p:nvSpPr>
        <p:spPr>
          <a:xfrm>
            <a:off x="8412480" y="4837176"/>
            <a:ext cx="45720" cy="91440"/>
          </a:xfrm>
          <a:prstGeom prst="roundRect">
            <a:avLst>
              <a:gd name="adj" fmla="val 100000"/>
            </a:avLst>
          </a:prstGeom>
          <a:solidFill>
            <a:srgbClr val="3E63DD"/>
          </a:solidFill>
          <a:ln/>
        </p:spPr>
      </p:sp>
      <p:sp>
        <p:nvSpPr>
          <p:cNvPr id="84" name="Text 82"/>
          <p:cNvSpPr/>
          <p:nvPr/>
        </p:nvSpPr>
        <p:spPr>
          <a:xfrm>
            <a:off x="9464040" y="4736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10241280" y="473659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Display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4965192" y="5084064"/>
            <a:ext cx="6236208" cy="0"/>
          </a:xfrm>
          <a:prstGeom prst="line">
            <a:avLst/>
          </a:prstGeom>
          <a:noFill/>
          <a:ln w="6350">
            <a:solidFill>
              <a:srgbClr val="EDF0F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965192" y="510235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Womaness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6309360" y="5148072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EEF1FE"/>
          </a:solidFill>
          <a:ln/>
        </p:spPr>
      </p:sp>
      <p:sp>
        <p:nvSpPr>
          <p:cNvPr id="89" name="Text 87"/>
          <p:cNvSpPr/>
          <p:nvPr/>
        </p:nvSpPr>
        <p:spPr>
          <a:xfrm>
            <a:off x="6309360" y="5148072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5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</a:t>
            </a:r>
            <a:endParaRPr lang="en-US" sz="650" dirty="0"/>
          </a:p>
        </p:txBody>
      </p:sp>
      <p:sp>
        <p:nvSpPr>
          <p:cNvPr id="90" name="Text 88"/>
          <p:cNvSpPr/>
          <p:nvPr/>
        </p:nvSpPr>
        <p:spPr>
          <a:xfrm>
            <a:off x="7406640" y="51023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412480" y="5202936"/>
            <a:ext cx="914400" cy="91440"/>
          </a:xfrm>
          <a:prstGeom prst="roundRect">
            <a:avLst>
              <a:gd name="adj" fmla="val 50000"/>
            </a:avLst>
          </a:prstGeom>
          <a:solidFill>
            <a:srgbClr val="EDF1F6"/>
          </a:solidFill>
          <a:ln/>
        </p:spPr>
      </p:sp>
      <p:sp>
        <p:nvSpPr>
          <p:cNvPr id="92" name="Shape 90"/>
          <p:cNvSpPr/>
          <p:nvPr/>
        </p:nvSpPr>
        <p:spPr>
          <a:xfrm>
            <a:off x="8412480" y="5202936"/>
            <a:ext cx="155448" cy="91440"/>
          </a:xfrm>
          <a:prstGeom prst="roundRect">
            <a:avLst>
              <a:gd name="adj" fmla="val 50000"/>
            </a:avLst>
          </a:prstGeom>
          <a:solidFill>
            <a:srgbClr val="3E63DD"/>
          </a:solidFill>
          <a:ln/>
        </p:spPr>
      </p:sp>
      <p:sp>
        <p:nvSpPr>
          <p:cNvPr id="93" name="Text 91"/>
          <p:cNvSpPr/>
          <p:nvPr/>
        </p:nvSpPr>
        <p:spPr>
          <a:xfrm>
            <a:off x="9464040" y="510235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17%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10241280" y="51023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Display</a:t>
            </a:r>
            <a:endParaRPr lang="en-US" sz="950" dirty="0"/>
          </a:p>
        </p:txBody>
      </p:sp>
      <p:sp>
        <p:nvSpPr>
          <p:cNvPr id="95" name="Text 93"/>
          <p:cNvSpPr/>
          <p:nvPr/>
        </p:nvSpPr>
        <p:spPr>
          <a:xfrm>
            <a:off x="4965192" y="5650992"/>
            <a:ext cx="6236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share = paid search + social + display, as % of traffic. Similarweb + Semrush, Apr–Jun 2026 · estimates, directional.</a:t>
            </a:r>
            <a:endParaRPr lang="en-US" sz="800" dirty="0"/>
          </a:p>
        </p:txBody>
      </p:sp>
      <p:sp>
        <p:nvSpPr>
          <p:cNvPr id="96" name="Text 94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97" name="Text 95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120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LEARNED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takeaways from the research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737360"/>
            <a:ext cx="3410712" cy="2697480"/>
          </a:xfrm>
          <a:prstGeom prst="roundRect">
            <a:avLst>
              <a:gd name="adj" fmla="val 3729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9385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05840" y="248716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fit matters more than category fit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320040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closest competitors aren't always menopause brands. They're the brands solving similar problems for the same customer.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89120" y="1737360"/>
            <a:ext cx="3410712" cy="2697480"/>
          </a:xfrm>
          <a:prstGeom prst="roundRect">
            <a:avLst>
              <a:gd name="adj" fmla="val 3729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63440" y="19385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663440" y="248716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isn't one winning acquisition strategy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63440" y="320040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Successful brands grow through different channel mixes. There isn't a formula to copy.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1737360"/>
            <a:ext cx="3410712" cy="2697480"/>
          </a:xfrm>
          <a:prstGeom prst="roundRect">
            <a:avLst>
              <a:gd name="adj" fmla="val 3729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19385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321040" y="248716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Stripes already has a clear positioning advantage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21040" y="320040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brands focus on individual symptoms. Stripes can build acquisition around supporting the entire menopause journey.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4709160"/>
            <a:ext cx="10725912" cy="1005840"/>
          </a:xfrm>
          <a:prstGeom prst="roundRect">
            <a:avLst>
              <a:gd name="adj" fmla="val 11818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24128" y="470916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9FC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I'D FOCUS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606040" y="4709160"/>
            <a:ext cx="8485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A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Instead of copying competitors, I'd build a growth strategy around Stripes' strongest differentiator: </a:t>
            </a:r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the full menopause journey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A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84832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200" dirty="0"/>
          </a:p>
        </p:txBody>
      </p:sp>
      <p:sp>
        <p:nvSpPr>
          <p:cNvPr id="3" name="Shape 1"/>
          <p:cNvSpPr/>
          <p:nvPr/>
        </p:nvSpPr>
        <p:spPr>
          <a:xfrm>
            <a:off x="3767328" y="2331720"/>
            <a:ext cx="0" cy="2240280"/>
          </a:xfrm>
          <a:prstGeom prst="line">
            <a:avLst/>
          </a:prstGeom>
          <a:noFill/>
          <a:ln w="19050">
            <a:solidFill>
              <a:srgbClr val="E4EA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60520" y="23957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60520" y="2724912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Launching the hero product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160520" y="3493008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I'd bring The Inside Addition to market - the creative angle, the campaign landing page, the funnel, and how I'd measure success.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120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· LAUNCH STRATEGY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angle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3977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3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"Your daily addition. </a:t>
            </a:r>
            <a:pPr indent="0" marL="0">
              <a:lnSpc>
                <a:spcPct val="130000"/>
              </a:lnSpc>
              <a:buNone/>
            </a:pPr>
            <a:r>
              <a:rPr lang="en-US" sz="2300" b="1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 like yourself again</a:t>
            </a:r>
            <a:pPr indent="0" marL="0">
              <a:lnSpc>
                <a:spcPct val="130000"/>
              </a:lnSpc>
              <a:buNone/>
            </a:pPr>
            <a:r>
              <a:rPr lang="en-US" sz="23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."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Instead of being just another menopause supplement, The Inside Addition becomes a </a:t>
            </a:r>
            <a:pPr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daily habit</a:t>
            </a:r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that naturally fits into a woman's routine and supports her from the inside out.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74920" y="16916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ANGLE?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74920" y="201168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A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7492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532120" y="199339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Builds on the product name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5532120" y="228600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Inside Addition" becomes part of the story, not just the label.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74920" y="267004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A2540"/>
          </a:solidFill>
          <a:ln/>
        </p:spPr>
      </p:sp>
      <p:sp>
        <p:nvSpPr>
          <p:cNvPr id="12" name="Text 10"/>
          <p:cNvSpPr/>
          <p:nvPr/>
        </p:nvSpPr>
        <p:spPr>
          <a:xfrm>
            <a:off x="507492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532120" y="265176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Fits the brand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5532120" y="2944368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 and supportive, not clinical or fear-based.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74920" y="332841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A2540"/>
          </a:solidFill>
          <a:ln/>
        </p:spPr>
      </p:sp>
      <p:sp>
        <p:nvSpPr>
          <p:cNvPr id="16" name="Text 14"/>
          <p:cNvSpPr/>
          <p:nvPr/>
        </p:nvSpPr>
        <p:spPr>
          <a:xfrm>
            <a:off x="5074920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32120" y="331012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Matches the product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5532120" y="3694176"/>
            <a:ext cx="64008" cy="64008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19" name="Text 17"/>
          <p:cNvSpPr/>
          <p:nvPr/>
        </p:nvSpPr>
        <p:spPr>
          <a:xfrm>
            <a:off x="5715000" y="363931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menopause symptom support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595360" y="3694176"/>
            <a:ext cx="64008" cy="64008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21" name="Text 19"/>
          <p:cNvSpPr/>
          <p:nvPr/>
        </p:nvSpPr>
        <p:spPr>
          <a:xfrm>
            <a:off x="8778240" y="363931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Hormone-free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532120" y="3986784"/>
            <a:ext cx="64008" cy="64008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23" name="Text 21"/>
          <p:cNvSpPr/>
          <p:nvPr/>
        </p:nvSpPr>
        <p:spPr>
          <a:xfrm>
            <a:off x="5715000" y="39319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Supports daily function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595360" y="3986784"/>
            <a:ext cx="64008" cy="64008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25" name="Text 23"/>
          <p:cNvSpPr/>
          <p:nvPr/>
        </p:nvSpPr>
        <p:spPr>
          <a:xfrm>
            <a:off x="8778240" y="39319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Eases stress, brain fog &amp; hot flashes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074920" y="437083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A2540"/>
          </a:solidFill>
          <a:ln/>
        </p:spPr>
      </p:sp>
      <p:sp>
        <p:nvSpPr>
          <p:cNvPr id="27" name="Text 25"/>
          <p:cNvSpPr/>
          <p:nvPr/>
        </p:nvSpPr>
        <p:spPr>
          <a:xfrm>
            <a:off x="5074920" y="4370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532120" y="435254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Stands apart from competitors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5532120" y="4645152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menopause brands focus on a single symptom. The Inside Addition becomes everyday support through every stage of menopause.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731520" y="5440680"/>
            <a:ext cx="10725912" cy="0"/>
          </a:xfrm>
          <a:prstGeom prst="line">
            <a:avLst/>
          </a:prstGeom>
          <a:noFill/>
          <a:ln w="12700">
            <a:solidFill>
              <a:srgbClr val="EDF0F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" y="55961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ON THE EXISTING BRAND MESSAGE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669280" y="559612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"Show yourself love from the inside, out."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zyg-home-assignment/diagrams/slides/p2-03-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zyg-home-assignment/diagrams/slides/p2-04-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zyg-home-assignment/diagrams/slides/p2-05-metr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120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 · FUNNEL OPTIMIZATION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 strategy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5239512" cy="1143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24128" y="2084832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EEF1FE"/>
          </a:solidFill>
          <a:ln/>
        </p:spPr>
      </p:sp>
      <p:sp>
        <p:nvSpPr>
          <p:cNvPr id="6" name="Text 4"/>
          <p:cNvSpPr/>
          <p:nvPr/>
        </p:nvSpPr>
        <p:spPr>
          <a:xfrm>
            <a:off x="1024128" y="20848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◇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737360" y="212140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FUNNEL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737360" y="23591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Homepage → Product Detail Page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17920" y="1783080"/>
            <a:ext cx="5239512" cy="1143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10528" y="2084832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EEF1FE"/>
          </a:solidFill>
          <a:ln/>
        </p:spPr>
      </p:sp>
      <p:sp>
        <p:nvSpPr>
          <p:cNvPr id="11" name="Text 9"/>
          <p:cNvSpPr/>
          <p:nvPr/>
        </p:nvSpPr>
        <p:spPr>
          <a:xfrm>
            <a:off x="6510528" y="20848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223760" y="212140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TRAFFIC SOURCE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223760" y="235915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Social (Meta)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31520" y="3127248"/>
            <a:ext cx="10725912" cy="2834640"/>
          </a:xfrm>
          <a:prstGeom prst="roundRect">
            <a:avLst>
              <a:gd name="adj" fmla="val 3548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05840" y="340156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EF1FE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3401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600200" y="3474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APPROACH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5840" y="411480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A2540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508760" y="4096512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Prioritize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high-impact opportunities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before micro-optimizations.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1005840" y="468172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A2540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46817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508760" y="466344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relatively limited traffic, prioritize experiments that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maximize learning while targeting meaningful business impact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005840" y="524865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0A2540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5248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508760" y="5230368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data-driven hypotheses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validate them through A/B testing.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zyg-home-assignment/diagrams/slides/p3-02-ex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zyg-home-assignment/diagrams/slides/p3-03-ex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zyg-home-assignment/diagrams/slides/p3-04-exp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84832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0" b="1" dirty="0">
                <a:solidFill>
                  <a:srgbClr val="E4EA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200" dirty="0"/>
          </a:p>
        </p:txBody>
      </p:sp>
      <p:sp>
        <p:nvSpPr>
          <p:cNvPr id="3" name="Shape 1"/>
          <p:cNvSpPr/>
          <p:nvPr/>
        </p:nvSpPr>
        <p:spPr>
          <a:xfrm>
            <a:off x="3767328" y="2331720"/>
            <a:ext cx="0" cy="2240280"/>
          </a:xfrm>
          <a:prstGeom prst="line">
            <a:avLst/>
          </a:prstGeom>
          <a:noFill/>
          <a:ln w="19050">
            <a:solidFill>
              <a:srgbClr val="E4EA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60520" y="23957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60520" y="2724912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for Growth Teams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160520" y="3493008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I could build one AI capability for ZyG's growth team, this is where I'd start.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120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OPPORTUNITY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changed the bottleneck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5257800" cy="2788920"/>
          </a:xfrm>
          <a:prstGeom prst="roundRect">
            <a:avLst>
              <a:gd name="adj" fmla="val 3607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24128" y="205740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ALREADY HELPS TEAMS CREATE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24128" y="2395728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 w="9525">
            <a:solidFill>
              <a:srgbClr val="EDF0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39572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pages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51176" y="2395728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 w="9525">
            <a:solidFill>
              <a:srgbClr val="EDF0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51176" y="239572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 creatives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941064" y="2395728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 w="9525">
            <a:solidFill>
              <a:srgbClr val="EDF0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41064" y="239572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variations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24128" y="2852928"/>
            <a:ext cx="1508760" cy="365760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 w="9525">
            <a:solidFill>
              <a:srgbClr val="EDF0F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2852928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A/B test variants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24128" y="35661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Creating assets is becoming easier than ever. The harder question is deciding what to build.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920" y="1783080"/>
            <a:ext cx="5239512" cy="2788920"/>
          </a:xfrm>
          <a:prstGeom prst="roundRect">
            <a:avLst>
              <a:gd name="adj" fmla="val 4262"/>
            </a:avLst>
          </a:prstGeom>
          <a:solidFill>
            <a:srgbClr val="EEF1FE"/>
          </a:solidFill>
          <a:ln w="12700">
            <a:solidFill>
              <a:srgbClr val="DCE3F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37960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trike="sngStrike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do we build this?"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37960" y="26060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537960" y="297180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should we build next?"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6537960" y="39776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where product teams still spend most of their time.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31520" y="4846320"/>
            <a:ext cx="10725912" cy="914400"/>
          </a:xfrm>
          <a:prstGeom prst="roundRect">
            <a:avLst>
              <a:gd name="adj" fmla="val 13000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024128" y="484632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9FC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FOCUS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31720" y="4846320"/>
            <a:ext cx="8759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A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focus isn't making creation faster. It's making </a:t>
            </a:r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decisions smarter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EA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zyg-home-assignment/diagrams/slides/p4-03-bui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120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IN THE LOOP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humans in the decision loop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5257800" cy="2743200"/>
          </a:xfrm>
          <a:prstGeom prst="roundRect">
            <a:avLst>
              <a:gd name="adj" fmla="val 3667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24128" y="204825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7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GOOD AT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042416" y="2542032"/>
            <a:ext cx="91440" cy="91440"/>
          </a:xfrm>
          <a:prstGeom prst="ellipse">
            <a:avLst/>
          </a:prstGeom>
          <a:solidFill>
            <a:srgbClr val="B7C2D3"/>
          </a:solidFill>
          <a:ln/>
        </p:spPr>
      </p:sp>
      <p:sp>
        <p:nvSpPr>
          <p:cNvPr id="7" name="Text 5"/>
          <p:cNvSpPr/>
          <p:nvPr/>
        </p:nvSpPr>
        <p:spPr>
          <a:xfrm>
            <a:off x="1280160" y="24871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market changes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42416" y="2999232"/>
            <a:ext cx="91440" cy="91440"/>
          </a:xfrm>
          <a:prstGeom prst="ellipse">
            <a:avLst/>
          </a:prstGeom>
          <a:solidFill>
            <a:srgbClr val="B7C2D3"/>
          </a:solidFill>
          <a:ln/>
        </p:spPr>
      </p:sp>
      <p:sp>
        <p:nvSpPr>
          <p:cNvPr id="9" name="Text 7"/>
          <p:cNvSpPr/>
          <p:nvPr/>
        </p:nvSpPr>
        <p:spPr>
          <a:xfrm>
            <a:off x="1280160" y="29443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Detecting patterns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042416" y="3456432"/>
            <a:ext cx="91440" cy="91440"/>
          </a:xfrm>
          <a:prstGeom prst="ellipse">
            <a:avLst/>
          </a:prstGeom>
          <a:solidFill>
            <a:srgbClr val="B7C2D3"/>
          </a:solidFill>
          <a:ln/>
        </p:spPr>
      </p:sp>
      <p:sp>
        <p:nvSpPr>
          <p:cNvPr id="11" name="Text 9"/>
          <p:cNvSpPr/>
          <p:nvPr/>
        </p:nvSpPr>
        <p:spPr>
          <a:xfrm>
            <a:off x="1280160" y="34015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experiment ideas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42416" y="3913632"/>
            <a:ext cx="91440" cy="91440"/>
          </a:xfrm>
          <a:prstGeom prst="ellipse">
            <a:avLst/>
          </a:prstGeom>
          <a:solidFill>
            <a:srgbClr val="B7C2D3"/>
          </a:solidFill>
          <a:ln/>
        </p:spPr>
      </p:sp>
      <p:sp>
        <p:nvSpPr>
          <p:cNvPr id="13" name="Text 11"/>
          <p:cNvSpPr/>
          <p:nvPr/>
        </p:nvSpPr>
        <p:spPr>
          <a:xfrm>
            <a:off x="1280160" y="3858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Preparing experiment briefs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1783080"/>
            <a:ext cx="5257800" cy="2743200"/>
          </a:xfrm>
          <a:prstGeom prst="roundRect">
            <a:avLst>
              <a:gd name="adj" fmla="val 3667"/>
            </a:avLst>
          </a:prstGeom>
          <a:solidFill>
            <a:srgbClr val="FFFFFF"/>
          </a:solidFill>
          <a:ln w="9525">
            <a:solidFill>
              <a:srgbClr val="E7EBF1"/>
            </a:solidFill>
            <a:prstDash val="solid"/>
          </a:ln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510528" y="204825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3E63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TEAMS STILL DECIDE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528816" y="2542032"/>
            <a:ext cx="91440" cy="91440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0" y="24871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this fit our strategy?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528816" y="2999232"/>
            <a:ext cx="91440" cy="91440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0" y="29443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this fit our brand?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528816" y="3456432"/>
            <a:ext cx="91440" cy="91440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34015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this worth building?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528816" y="3913632"/>
            <a:ext cx="91440" cy="91440"/>
          </a:xfrm>
          <a:prstGeom prst="ellipse">
            <a:avLst/>
          </a:prstGeom>
          <a:solidFill>
            <a:srgbClr val="3E63DD"/>
          </a:solidFill>
          <a:ln/>
        </p:spPr>
      </p:sp>
      <p:sp>
        <p:nvSpPr>
          <p:cNvPr id="23" name="Text 21"/>
          <p:cNvSpPr/>
          <p:nvPr/>
        </p:nvSpPr>
        <p:spPr>
          <a:xfrm>
            <a:off x="6766560" y="3858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 this be our next priority?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731520" y="4800600"/>
            <a:ext cx="10725912" cy="1005840"/>
          </a:xfrm>
          <a:prstGeom prst="roundRect">
            <a:avLst>
              <a:gd name="adj" fmla="val 11818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25400" dir="5400000">
              <a:srgbClr val="102A4D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097280" y="4800600"/>
            <a:ext cx="99943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A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makes sure the team </a:t>
            </a:r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misses an opportunity</a:t>
            </a:r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A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product team decides </a:t>
            </a:r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opportunities are worth pursuing</a:t>
            </a:r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A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329184" y="6400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A00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0835640" y="6336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11111">
                    <a:alpha val="5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Stripes
</a:t>
            </a:r>
            <a:pPr algn="r" indent="0" marL="0">
              <a:lnSpc>
                <a:spcPct val="95000"/>
              </a:lnSpc>
              <a:buNone/>
            </a:pPr>
            <a:r>
              <a:rPr lang="en-US" sz="500" b="1" spc="300" kern="0" dirty="0">
                <a:solidFill>
                  <a:srgbClr val="111111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BEAUTY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Stripes - E-commerce Product &amp; CRO Manager - Home Assignment</dc:title>
  <dc:subject>PptxGenJS Presentation</dc:subject>
  <dc:creator>Yoav Gersi</dc:creator>
  <cp:lastModifiedBy>Yoav Gersi</cp:lastModifiedBy>
  <cp:revision>1</cp:revision>
  <dcterms:created xsi:type="dcterms:W3CDTF">2026-08-01T14:25:37Z</dcterms:created>
  <dcterms:modified xsi:type="dcterms:W3CDTF">2026-08-01T14:25:37Z</dcterms:modified>
</cp:coreProperties>
</file>