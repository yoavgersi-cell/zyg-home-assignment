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4884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Product &amp; CRO Manager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40080" y="29718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Assignment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40080" y="35204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Stripes Growth Case Study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916168" y="4160520"/>
            <a:ext cx="365760" cy="0"/>
          </a:xfrm>
          <a:prstGeom prst="line">
            <a:avLst/>
          </a:prstGeom>
          <a:noFill/>
          <a:ln w="19050">
            <a:solidFill>
              <a:srgbClr val="DC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4348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2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47091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Yoav Gersi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64190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4A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ZyG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835640" y="63550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11111">
                    <a:alpha val="5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Stripes
</a:t>
            </a:r>
            <a:pPr algn="r" indent="0" marL="0">
              <a:lnSpc>
                <a:spcPct val="95000"/>
              </a:lnSpc>
              <a:buNone/>
            </a:pPr>
            <a:r>
              <a:rPr lang="en-US" sz="500" b="1" spc="320" kern="0" dirty="0">
                <a:solidFill>
                  <a:srgbClr val="111111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2331720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0" b="1" dirty="0">
                <a:solidFill>
                  <a:srgbClr val="E4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0" dirty="0"/>
          </a:p>
        </p:txBody>
      </p:sp>
      <p:sp>
        <p:nvSpPr>
          <p:cNvPr id="3" name="Shape 1"/>
          <p:cNvSpPr/>
          <p:nvPr/>
        </p:nvSpPr>
        <p:spPr>
          <a:xfrm>
            <a:off x="3703320" y="2468880"/>
            <a:ext cx="0" cy="1737360"/>
          </a:xfrm>
          <a:prstGeom prst="line">
            <a:avLst/>
          </a:prstGeom>
          <a:noFill/>
          <a:ln w="19050">
            <a:solidFill>
              <a:srgbClr val="E4EA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69080" y="2487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069080" y="2798064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 &amp; Market Overview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069080" y="376732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the category, the competitive set, and the paid acquisition landscape.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64190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4A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ZyG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835640" y="63550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11111">
                    <a:alpha val="5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Stripes
</a:t>
            </a:r>
            <a:pPr algn="r" indent="0" marL="0">
              <a:lnSpc>
                <a:spcPct val="95000"/>
              </a:lnSpc>
              <a:buNone/>
            </a:pPr>
            <a:r>
              <a:rPr lang="en-US" sz="500" b="1" spc="320" kern="0" dirty="0">
                <a:solidFill>
                  <a:srgbClr val="111111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OVERVIEW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804672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and target customer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31520" y="12984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Stripes is positioned, and the customer definition used throughout this analysis.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10725912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7EBF1"/>
            </a:solidFill>
            <a:prstDash val="solid"/>
          </a:ln>
          <a:effectLst>
            <a:outerShdw sx="100000" sy="100000" kx="0" ky="0" algn="bl" rotWithShape="0" blurRad="114300" dist="25400" dir="5400000">
              <a:srgbClr val="102A4D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77393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60120" y="19933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Women's Health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87168" y="1874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C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88920" y="177393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788920" y="199339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Menopause Wellness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73168" y="1874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C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4920" y="17739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074920" y="199339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women throughout the menopause journey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89720" y="200253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from perimenopause through post-menopause.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" y="2697480"/>
            <a:ext cx="525780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9525">
            <a:solidFill>
              <a:srgbClr val="E7EBF1"/>
            </a:solidFill>
            <a:prstDash val="solid"/>
          </a:ln>
          <a:effectLst>
            <a:outerShdw sx="100000" sy="100000" kx="0" ky="0" algn="bl" rotWithShape="0" blurRad="114300" dist="25400" dir="5400000">
              <a:srgbClr val="102A4D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87552" y="29260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&amp; POSITIONING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87552" y="32004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Menopause Wellness, within Women's Health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87552" y="36118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Multi-year life stage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spanning perimenopause through post-menopause.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87552" y="40050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symptoms often occur </a:t>
            </a:r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simultaneously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87552" y="43159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Stripes positions itself around the </a:t>
            </a:r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menopause journey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rather than a single symptom.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87552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COMMONLY ASSOCIATED SYMPTOMS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987552" y="513892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 w="9525">
            <a:solidFill>
              <a:srgbClr val="EDF0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513892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E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flashes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039112" y="513892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 w="9525">
            <a:solidFill>
              <a:srgbClr val="EDF0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39112" y="5138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E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sleep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044952" y="513892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 w="9525">
            <a:solidFill>
              <a:srgbClr val="EDF0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44952" y="513892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E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 fog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005072" y="5138928"/>
            <a:ext cx="658368" cy="310896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 w="9525">
            <a:solidFill>
              <a:srgbClr val="EDF0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05072" y="513892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E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54880" y="5138928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 w="9525">
            <a:solidFill>
              <a:srgbClr val="EDF0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513892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E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 skin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623560" y="5138928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 w="9525">
            <a:solidFill>
              <a:srgbClr val="EDF0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23560" y="513892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E6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Intimacy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199632" y="2697480"/>
            <a:ext cx="525780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9525">
            <a:solidFill>
              <a:srgbClr val="E7EBF1"/>
            </a:solidFill>
            <a:prstDash val="solid"/>
          </a:ln>
          <a:effectLst>
            <a:outerShdw sx="100000" sy="100000" kx="0" ky="0" algn="bl" rotWithShape="0" blurRad="114300" dist="25400" dir="5400000">
              <a:srgbClr val="102A4D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455664" y="29260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CUSTOMER (FOR THIS ANALYSIS)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455664" y="32004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42–62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6455664" y="39136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Experiencing </a:t>
            </a:r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peri- or post-menopause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455664" y="426110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Looking for </a:t>
            </a:r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non-hormonal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wellness solutions.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455664" y="460857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Looking for products that fit into </a:t>
            </a:r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everyday routines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20040" y="64190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4A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ZyG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10835640" y="63550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11111">
                    <a:alpha val="5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Stripes
</a:t>
            </a:r>
            <a:pPr algn="r" indent="0" marL="0">
              <a:lnSpc>
                <a:spcPct val="95000"/>
              </a:lnSpc>
              <a:buNone/>
            </a:pPr>
            <a:r>
              <a:rPr lang="en-US" sz="500" b="1" spc="320" kern="0" dirty="0">
                <a:solidFill>
                  <a:srgbClr val="111111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FRAMEWORK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804672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competitors were selected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41605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9525">
            <a:solidFill>
              <a:srgbClr val="E7EBF1"/>
            </a:solidFill>
            <a:prstDash val="solid"/>
          </a:ln>
          <a:effectLst>
            <a:outerShdw sx="100000" sy="100000" kx="0" ky="0" algn="bl" rotWithShape="0" blurRad="114300" dist="25400" dir="5400000">
              <a:srgbClr val="102A4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947672"/>
            <a:ext cx="347472" cy="347472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947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08760" y="18013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customer?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08760" y="2112264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women experiencing peri- or menopause.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74920" y="1600200"/>
            <a:ext cx="41605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9525">
            <a:solidFill>
              <a:srgbClr val="E7EBF1"/>
            </a:solidFill>
            <a:prstDash val="solid"/>
          </a:ln>
          <a:effectLst>
            <a:outerShdw sx="100000" sy="100000" kx="0" ky="0" algn="bl" rotWithShape="0" blurRad="114300" dist="25400" dir="5400000">
              <a:srgbClr val="102A4D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49240" y="1947672"/>
            <a:ext cx="347472" cy="347472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11" name="Text 9"/>
          <p:cNvSpPr/>
          <p:nvPr/>
        </p:nvSpPr>
        <p:spPr>
          <a:xfrm>
            <a:off x="5349240" y="1947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52160" y="18013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Solving the same customer need?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852160" y="211226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Offers products intended to address menopause-related symptoms.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308592" y="189280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7C2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784080" y="1600200"/>
            <a:ext cx="1691640" cy="1051560"/>
          </a:xfrm>
          <a:prstGeom prst="roundRect">
            <a:avLst>
              <a:gd name="adj" fmla="val 7826"/>
            </a:avLst>
          </a:prstGeom>
          <a:solidFill>
            <a:srgbClr val="0A2540"/>
          </a:solidFill>
          <a:ln/>
          <a:effectLst>
            <a:outerShdw sx="100000" sy="100000" kx="0" ky="0" algn="bl" rotWithShape="0" blurRad="114300" dist="25400" dir="5400000">
              <a:srgbClr val="102A4D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012680" y="17830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9FC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YES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012680" y="200253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 in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analysis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301752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9525">
            <a:solidFill>
              <a:srgbClr val="E7EBF1"/>
            </a:solidFill>
            <a:prstDash val="solid"/>
          </a:ln>
          <a:effectLst>
            <a:outerShdw sx="100000" sy="100000" kx="0" ky="0" algn="bl" rotWithShape="0" blurRad="114300" dist="25400" dir="5400000">
              <a:srgbClr val="102A4D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87552" y="327355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EEF1FE"/>
          </a:solidFill>
          <a:ln/>
        </p:spPr>
      </p:sp>
      <p:sp>
        <p:nvSpPr>
          <p:cNvPr id="20" name="Text 18"/>
          <p:cNvSpPr/>
          <p:nvPr/>
        </p:nvSpPr>
        <p:spPr>
          <a:xfrm>
            <a:off x="987552" y="327355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87552" y="367588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competitors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87552" y="4023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Brands positioned primarily around menopause wellness.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99632" y="301752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9525">
            <a:solidFill>
              <a:srgbClr val="E7EBF1"/>
            </a:solidFill>
            <a:prstDash val="solid"/>
          </a:ln>
          <a:effectLst>
            <a:outerShdw sx="100000" sy="100000" kx="0" ky="0" algn="bl" rotWithShape="0" blurRad="114300" dist="25400" dir="5400000">
              <a:srgbClr val="102A4D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55664" y="3273552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/>
        </p:spPr>
      </p:sp>
      <p:sp>
        <p:nvSpPr>
          <p:cNvPr id="25" name="Text 23"/>
          <p:cNvSpPr/>
          <p:nvPr/>
        </p:nvSpPr>
        <p:spPr>
          <a:xfrm>
            <a:off x="6455664" y="327355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5A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455664" y="367588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Adjacent competitors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455664" y="4023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Brands solving related symptoms or competing for the same audience.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0040" y="64190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4A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ZyG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0835640" y="63550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11111">
                    <a:alpha val="5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Stripes
</a:t>
            </a:r>
            <a:pPr algn="r" indent="0" marL="0">
              <a:lnSpc>
                <a:spcPct val="95000"/>
              </a:lnSpc>
              <a:buNone/>
            </a:pPr>
            <a:r>
              <a:rPr lang="en-US" sz="500" b="1" spc="320" kern="0" dirty="0">
                <a:solidFill>
                  <a:srgbClr val="111111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804672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set and paid acquisition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31520" y="12984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share represents paid search, paid social and display as a percentage of each brand's traffic.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2743200" cy="3794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7EBF1"/>
            </a:solidFill>
            <a:prstDash val="solid"/>
          </a:ln>
          <a:effectLst>
            <a:outerShdw sx="100000" sy="100000" kx="0" ky="0" algn="bl" rotWithShape="0" blurRad="114300" dist="25400" dir="5400000">
              <a:srgbClr val="102A4D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32688" y="187452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COMPETITIVE SET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932688" y="2176272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EEF1FE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217627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691640" y="21762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brands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32688" y="2505456"/>
            <a:ext cx="1161288" cy="274320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9525">
            <a:solidFill>
              <a:srgbClr val="EDF0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505456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Womaness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185416" y="2505456"/>
            <a:ext cx="1161288" cy="274320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9525">
            <a:solidFill>
              <a:srgbClr val="EDF0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85416" y="2505456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Kindra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932688" y="2843784"/>
            <a:ext cx="1161288" cy="274320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9525">
            <a:solidFill>
              <a:srgbClr val="EDF0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2843784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Bonafide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185416" y="2843784"/>
            <a:ext cx="1161288" cy="274320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9525">
            <a:solidFill>
              <a:srgbClr val="EDF0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85416" y="2843784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Estroven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932688" y="3182112"/>
            <a:ext cx="1161288" cy="274320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9525">
            <a:solidFill>
              <a:srgbClr val="EDF0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3182112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185416" y="3182112"/>
            <a:ext cx="1161288" cy="274320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9525">
            <a:solidFill>
              <a:srgbClr val="EDF0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85416" y="3182112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 Well-Aging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932688" y="3520440"/>
            <a:ext cx="1161288" cy="274320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9525">
            <a:solidFill>
              <a:srgbClr val="EDF0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" y="3520440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Valerie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932688" y="393192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/>
        </p:spPr>
      </p:sp>
      <p:sp>
        <p:nvSpPr>
          <p:cNvPr id="25" name="Text 23"/>
          <p:cNvSpPr/>
          <p:nvPr/>
        </p:nvSpPr>
        <p:spPr>
          <a:xfrm>
            <a:off x="932688" y="39319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5A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ADJACENT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920240" y="39319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brands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32688" y="4261104"/>
            <a:ext cx="1161288" cy="274320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9525">
            <a:solidFill>
              <a:srgbClr val="EDF0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4261104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Happy Mammoth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2185416" y="4261104"/>
            <a:ext cx="1161288" cy="274320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9525">
            <a:solidFill>
              <a:srgbClr val="EDF0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85416" y="4261104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Alloy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932688" y="4599432"/>
            <a:ext cx="1161288" cy="274320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9525">
            <a:solidFill>
              <a:srgbClr val="EDF0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2688" y="4599432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Midi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185416" y="4599432"/>
            <a:ext cx="1161288" cy="274320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9525">
            <a:solidFill>
              <a:srgbClr val="EDF0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85416" y="4599432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Evernow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932688" y="4937760"/>
            <a:ext cx="1161288" cy="274320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9525">
            <a:solidFill>
              <a:srgbClr val="EDF0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2688" y="4937760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Positiv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185416" y="4937760"/>
            <a:ext cx="1161288" cy="274320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9525">
            <a:solidFill>
              <a:srgbClr val="EDF0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85416" y="4937760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Nutrafol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932688" y="5276088"/>
            <a:ext cx="1161288" cy="274320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9525">
            <a:solidFill>
              <a:srgbClr val="EDF0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32688" y="5276088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Ritual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185416" y="5276088"/>
            <a:ext cx="1161288" cy="274320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9525">
            <a:solidFill>
              <a:srgbClr val="EDF0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85416" y="5276088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Foria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932688" y="5614416"/>
            <a:ext cx="1161288" cy="274320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9525">
            <a:solidFill>
              <a:srgbClr val="EDF0F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32688" y="5614416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Clean Love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2185416" y="5614416"/>
            <a:ext cx="1161288" cy="274320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9525">
            <a:solidFill>
              <a:srgbClr val="EDF0F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185416" y="5614416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Joylux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657600" y="1691640"/>
            <a:ext cx="7799832" cy="3794760"/>
          </a:xfrm>
          <a:prstGeom prst="roundRect">
            <a:avLst>
              <a:gd name="adj" fmla="val 2169"/>
            </a:avLst>
          </a:prstGeom>
          <a:solidFill>
            <a:srgbClr val="FFFFFF"/>
          </a:solidFill>
          <a:ln w="9525">
            <a:solidFill>
              <a:srgbClr val="E7EBF1"/>
            </a:solidFill>
            <a:prstDash val="solid"/>
          </a:ln>
          <a:effectLst>
            <a:outerShdw sx="100000" sy="100000" kx="0" ky="0" algn="bl" rotWithShape="0" blurRad="114300" dist="25400" dir="5400000">
              <a:srgbClr val="102A4D">
                <a:alpha val="1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3913632" y="18745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ACQUISITION, BY BRAND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913632" y="215798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5486400" y="215798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720840" y="2157984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8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TRAFFIC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7589520" y="215798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SHARE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10149840" y="215798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8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PAID CHANNEL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913632" y="2414016"/>
            <a:ext cx="7287768" cy="0"/>
          </a:xfrm>
          <a:prstGeom prst="line">
            <a:avLst/>
          </a:prstGeom>
          <a:noFill/>
          <a:ln w="12700">
            <a:solidFill>
              <a:srgbClr val="E7EB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913632" y="24871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Positiv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486400" y="2519172"/>
            <a:ext cx="777240" cy="210312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/>
        </p:spPr>
      </p:sp>
      <p:sp>
        <p:nvSpPr>
          <p:cNvPr id="57" name="Text 55"/>
          <p:cNvSpPr/>
          <p:nvPr/>
        </p:nvSpPr>
        <p:spPr>
          <a:xfrm>
            <a:off x="5486400" y="2519172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60" kern="0" dirty="0">
                <a:solidFill>
                  <a:srgbClr val="5A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ADJACENT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6720840" y="24871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5.8M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589520" y="2578608"/>
            <a:ext cx="960120" cy="100584"/>
          </a:xfrm>
          <a:prstGeom prst="roundRect">
            <a:avLst>
              <a:gd name="adj" fmla="val 45455"/>
            </a:avLst>
          </a:prstGeom>
          <a:solidFill>
            <a:srgbClr val="EDF1F6"/>
          </a:solidFill>
          <a:ln/>
        </p:spPr>
      </p:sp>
      <p:sp>
        <p:nvSpPr>
          <p:cNvPr id="60" name="Shape 58"/>
          <p:cNvSpPr/>
          <p:nvPr/>
        </p:nvSpPr>
        <p:spPr>
          <a:xfrm>
            <a:off x="7589520" y="2578608"/>
            <a:ext cx="720090" cy="100584"/>
          </a:xfrm>
          <a:prstGeom prst="roundRect">
            <a:avLst>
              <a:gd name="adj" fmla="val 45455"/>
            </a:avLst>
          </a:prstGeom>
          <a:solidFill>
            <a:srgbClr val="0A2540"/>
          </a:solidFill>
          <a:ln/>
        </p:spPr>
      </p:sp>
      <p:sp>
        <p:nvSpPr>
          <p:cNvPr id="61" name="Text 59"/>
          <p:cNvSpPr/>
          <p:nvPr/>
        </p:nvSpPr>
        <p:spPr>
          <a:xfrm>
            <a:off x="8641080" y="248716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10149840" y="24871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913632" y="2816352"/>
            <a:ext cx="7287768" cy="0"/>
          </a:xfrm>
          <a:prstGeom prst="line">
            <a:avLst/>
          </a:prstGeom>
          <a:noFill/>
          <a:ln w="6350">
            <a:solidFill>
              <a:srgbClr val="EDF0F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913632" y="28300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Midi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5486400" y="2862072"/>
            <a:ext cx="777240" cy="210312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/>
        </p:spPr>
      </p:sp>
      <p:sp>
        <p:nvSpPr>
          <p:cNvPr id="66" name="Text 64"/>
          <p:cNvSpPr/>
          <p:nvPr/>
        </p:nvSpPr>
        <p:spPr>
          <a:xfrm>
            <a:off x="5486400" y="2862072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60" kern="0" dirty="0">
                <a:solidFill>
                  <a:srgbClr val="5A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ADJACENT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6720840" y="28300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3.6M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7589520" y="2921508"/>
            <a:ext cx="960120" cy="100584"/>
          </a:xfrm>
          <a:prstGeom prst="roundRect">
            <a:avLst>
              <a:gd name="adj" fmla="val 45455"/>
            </a:avLst>
          </a:prstGeom>
          <a:solidFill>
            <a:srgbClr val="EDF1F6"/>
          </a:solidFill>
          <a:ln/>
        </p:spPr>
      </p:sp>
      <p:sp>
        <p:nvSpPr>
          <p:cNvPr id="69" name="Shape 67"/>
          <p:cNvSpPr/>
          <p:nvPr/>
        </p:nvSpPr>
        <p:spPr>
          <a:xfrm>
            <a:off x="7589520" y="2921508"/>
            <a:ext cx="249631" cy="100584"/>
          </a:xfrm>
          <a:prstGeom prst="roundRect">
            <a:avLst>
              <a:gd name="adj" fmla="val 45455"/>
            </a:avLst>
          </a:prstGeom>
          <a:solidFill>
            <a:srgbClr val="0A2540"/>
          </a:solidFill>
          <a:ln/>
        </p:spPr>
      </p:sp>
      <p:sp>
        <p:nvSpPr>
          <p:cNvPr id="70" name="Text 68"/>
          <p:cNvSpPr/>
          <p:nvPr/>
        </p:nvSpPr>
        <p:spPr>
          <a:xfrm>
            <a:off x="8641080" y="283006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10149840" y="28300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3913632" y="3159252"/>
            <a:ext cx="7287768" cy="0"/>
          </a:xfrm>
          <a:prstGeom prst="line">
            <a:avLst/>
          </a:prstGeom>
          <a:noFill/>
          <a:ln w="6350">
            <a:solidFill>
              <a:srgbClr val="EDF0F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913632" y="31729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Happy Mammoth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5486400" y="3204972"/>
            <a:ext cx="777240" cy="210312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/>
        </p:spPr>
      </p:sp>
      <p:sp>
        <p:nvSpPr>
          <p:cNvPr id="75" name="Text 73"/>
          <p:cNvSpPr/>
          <p:nvPr/>
        </p:nvSpPr>
        <p:spPr>
          <a:xfrm>
            <a:off x="5486400" y="3204972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60" kern="0" dirty="0">
                <a:solidFill>
                  <a:srgbClr val="5A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ADJACENT</a:t>
            </a:r>
            <a:endParaRPr lang="en-US" sz="650" dirty="0"/>
          </a:p>
        </p:txBody>
      </p:sp>
      <p:sp>
        <p:nvSpPr>
          <p:cNvPr id="76" name="Text 74"/>
          <p:cNvSpPr/>
          <p:nvPr/>
        </p:nvSpPr>
        <p:spPr>
          <a:xfrm>
            <a:off x="6720840" y="31729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2.5M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7589520" y="3264408"/>
            <a:ext cx="960120" cy="100584"/>
          </a:xfrm>
          <a:prstGeom prst="roundRect">
            <a:avLst>
              <a:gd name="adj" fmla="val 45455"/>
            </a:avLst>
          </a:prstGeom>
          <a:solidFill>
            <a:srgbClr val="EDF1F6"/>
          </a:solidFill>
          <a:ln/>
        </p:spPr>
      </p:sp>
      <p:sp>
        <p:nvSpPr>
          <p:cNvPr id="78" name="Shape 76"/>
          <p:cNvSpPr/>
          <p:nvPr/>
        </p:nvSpPr>
        <p:spPr>
          <a:xfrm>
            <a:off x="7589520" y="3264408"/>
            <a:ext cx="508864" cy="100584"/>
          </a:xfrm>
          <a:prstGeom prst="roundRect">
            <a:avLst>
              <a:gd name="adj" fmla="val 45455"/>
            </a:avLst>
          </a:prstGeom>
          <a:solidFill>
            <a:srgbClr val="0A2540"/>
          </a:solidFill>
          <a:ln/>
        </p:spPr>
      </p:sp>
      <p:sp>
        <p:nvSpPr>
          <p:cNvPr id="79" name="Text 77"/>
          <p:cNvSpPr/>
          <p:nvPr/>
        </p:nvSpPr>
        <p:spPr>
          <a:xfrm>
            <a:off x="8641080" y="317296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10149840" y="31729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3913632" y="3502152"/>
            <a:ext cx="7287768" cy="0"/>
          </a:xfrm>
          <a:prstGeom prst="line">
            <a:avLst/>
          </a:prstGeom>
          <a:noFill/>
          <a:ln w="6350">
            <a:solidFill>
              <a:srgbClr val="EDF0F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913632" y="35158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Alloy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5486400" y="3547872"/>
            <a:ext cx="777240" cy="210312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/>
        </p:spPr>
      </p:sp>
      <p:sp>
        <p:nvSpPr>
          <p:cNvPr id="84" name="Text 82"/>
          <p:cNvSpPr/>
          <p:nvPr/>
        </p:nvSpPr>
        <p:spPr>
          <a:xfrm>
            <a:off x="5486400" y="3547872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60" kern="0" dirty="0">
                <a:solidFill>
                  <a:srgbClr val="5A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ADJACENT</a:t>
            </a:r>
            <a:endParaRPr lang="en-US" sz="650" dirty="0"/>
          </a:p>
        </p:txBody>
      </p:sp>
      <p:sp>
        <p:nvSpPr>
          <p:cNvPr id="85" name="Text 83"/>
          <p:cNvSpPr/>
          <p:nvPr/>
        </p:nvSpPr>
        <p:spPr>
          <a:xfrm>
            <a:off x="6720840" y="35158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1.7M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7589520" y="3607308"/>
            <a:ext cx="960120" cy="100584"/>
          </a:xfrm>
          <a:prstGeom prst="roundRect">
            <a:avLst>
              <a:gd name="adj" fmla="val 45455"/>
            </a:avLst>
          </a:prstGeom>
          <a:solidFill>
            <a:srgbClr val="EDF1F6"/>
          </a:solidFill>
          <a:ln/>
        </p:spPr>
      </p:sp>
      <p:sp>
        <p:nvSpPr>
          <p:cNvPr id="87" name="Shape 85"/>
          <p:cNvSpPr/>
          <p:nvPr/>
        </p:nvSpPr>
        <p:spPr>
          <a:xfrm>
            <a:off x="7589520" y="3607308"/>
            <a:ext cx="374447" cy="100584"/>
          </a:xfrm>
          <a:prstGeom prst="roundRect">
            <a:avLst>
              <a:gd name="adj" fmla="val 45455"/>
            </a:avLst>
          </a:prstGeom>
          <a:solidFill>
            <a:srgbClr val="0A2540"/>
          </a:solidFill>
          <a:ln/>
        </p:spPr>
      </p:sp>
      <p:sp>
        <p:nvSpPr>
          <p:cNvPr id="88" name="Text 86"/>
          <p:cNvSpPr/>
          <p:nvPr/>
        </p:nvSpPr>
        <p:spPr>
          <a:xfrm>
            <a:off x="8641080" y="351586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10149840" y="35158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3913632" y="3845052"/>
            <a:ext cx="7287768" cy="0"/>
          </a:xfrm>
          <a:prstGeom prst="line">
            <a:avLst/>
          </a:prstGeom>
          <a:noFill/>
          <a:ln w="6350">
            <a:solidFill>
              <a:srgbClr val="EDF0F5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913632" y="38587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Bonafide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5486400" y="3890772"/>
            <a:ext cx="594360" cy="210312"/>
          </a:xfrm>
          <a:prstGeom prst="roundRect">
            <a:avLst>
              <a:gd name="adj" fmla="val 50000"/>
            </a:avLst>
          </a:prstGeom>
          <a:solidFill>
            <a:srgbClr val="EEF1FE"/>
          </a:solidFill>
          <a:ln/>
        </p:spPr>
      </p:sp>
      <p:sp>
        <p:nvSpPr>
          <p:cNvPr id="93" name="Text 91"/>
          <p:cNvSpPr/>
          <p:nvPr/>
        </p:nvSpPr>
        <p:spPr>
          <a:xfrm>
            <a:off x="5486400" y="3890772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60" kern="0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</a:t>
            </a:r>
            <a:endParaRPr lang="en-US" sz="650" dirty="0"/>
          </a:p>
        </p:txBody>
      </p:sp>
      <p:sp>
        <p:nvSpPr>
          <p:cNvPr id="94" name="Text 92"/>
          <p:cNvSpPr/>
          <p:nvPr/>
        </p:nvSpPr>
        <p:spPr>
          <a:xfrm>
            <a:off x="6720840" y="38587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1.1M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7589520" y="3950208"/>
            <a:ext cx="960120" cy="100584"/>
          </a:xfrm>
          <a:prstGeom prst="roundRect">
            <a:avLst>
              <a:gd name="adj" fmla="val 45455"/>
            </a:avLst>
          </a:prstGeom>
          <a:solidFill>
            <a:srgbClr val="EDF1F6"/>
          </a:solidFill>
          <a:ln/>
        </p:spPr>
      </p:sp>
      <p:sp>
        <p:nvSpPr>
          <p:cNvPr id="96" name="Shape 94"/>
          <p:cNvSpPr/>
          <p:nvPr/>
        </p:nvSpPr>
        <p:spPr>
          <a:xfrm>
            <a:off x="7589520" y="3950208"/>
            <a:ext cx="403250" cy="100584"/>
          </a:xfrm>
          <a:prstGeom prst="roundRect">
            <a:avLst>
              <a:gd name="adj" fmla="val 45455"/>
            </a:avLst>
          </a:prstGeom>
          <a:solidFill>
            <a:srgbClr val="3E63DD"/>
          </a:solidFill>
          <a:ln/>
        </p:spPr>
      </p:sp>
      <p:sp>
        <p:nvSpPr>
          <p:cNvPr id="97" name="Text 95"/>
          <p:cNvSpPr/>
          <p:nvPr/>
        </p:nvSpPr>
        <p:spPr>
          <a:xfrm>
            <a:off x="8641080" y="385876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10149840" y="3858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3913632" y="4187952"/>
            <a:ext cx="7287768" cy="0"/>
          </a:xfrm>
          <a:prstGeom prst="line">
            <a:avLst/>
          </a:prstGeom>
          <a:noFill/>
          <a:ln w="6350">
            <a:solidFill>
              <a:srgbClr val="EDF0F5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913632" y="42016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Estroven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5486400" y="4233672"/>
            <a:ext cx="594360" cy="210312"/>
          </a:xfrm>
          <a:prstGeom prst="roundRect">
            <a:avLst>
              <a:gd name="adj" fmla="val 50000"/>
            </a:avLst>
          </a:prstGeom>
          <a:solidFill>
            <a:srgbClr val="EEF1FE"/>
          </a:solidFill>
          <a:ln/>
        </p:spPr>
      </p:sp>
      <p:sp>
        <p:nvSpPr>
          <p:cNvPr id="102" name="Text 100"/>
          <p:cNvSpPr/>
          <p:nvPr/>
        </p:nvSpPr>
        <p:spPr>
          <a:xfrm>
            <a:off x="5486400" y="4233672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60" kern="0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</a:t>
            </a:r>
            <a:endParaRPr lang="en-US" sz="650" dirty="0"/>
          </a:p>
        </p:txBody>
      </p:sp>
      <p:sp>
        <p:nvSpPr>
          <p:cNvPr id="103" name="Text 101"/>
          <p:cNvSpPr/>
          <p:nvPr/>
        </p:nvSpPr>
        <p:spPr>
          <a:xfrm>
            <a:off x="6720840" y="42016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253K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7589520" y="4293108"/>
            <a:ext cx="960120" cy="100584"/>
          </a:xfrm>
          <a:prstGeom prst="roundRect">
            <a:avLst>
              <a:gd name="adj" fmla="val 45455"/>
            </a:avLst>
          </a:prstGeom>
          <a:solidFill>
            <a:srgbClr val="EDF1F6"/>
          </a:solidFill>
          <a:ln/>
        </p:spPr>
      </p:sp>
      <p:sp>
        <p:nvSpPr>
          <p:cNvPr id="105" name="Shape 103"/>
          <p:cNvSpPr/>
          <p:nvPr/>
        </p:nvSpPr>
        <p:spPr>
          <a:xfrm>
            <a:off x="7589520" y="4293108"/>
            <a:ext cx="566471" cy="100584"/>
          </a:xfrm>
          <a:prstGeom prst="roundRect">
            <a:avLst>
              <a:gd name="adj" fmla="val 45455"/>
            </a:avLst>
          </a:prstGeom>
          <a:solidFill>
            <a:srgbClr val="3E63DD"/>
          </a:solidFill>
          <a:ln/>
        </p:spPr>
      </p:sp>
      <p:sp>
        <p:nvSpPr>
          <p:cNvPr id="106" name="Text 104"/>
          <p:cNvSpPr/>
          <p:nvPr/>
        </p:nvSpPr>
        <p:spPr>
          <a:xfrm>
            <a:off x="8641080" y="420166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1000" dirty="0"/>
          </a:p>
        </p:txBody>
      </p:sp>
      <p:sp>
        <p:nvSpPr>
          <p:cNvPr id="107" name="Text 105"/>
          <p:cNvSpPr/>
          <p:nvPr/>
        </p:nvSpPr>
        <p:spPr>
          <a:xfrm>
            <a:off x="10149840" y="42016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3913632" y="4530852"/>
            <a:ext cx="7287768" cy="0"/>
          </a:xfrm>
          <a:prstGeom prst="line">
            <a:avLst/>
          </a:prstGeom>
          <a:noFill/>
          <a:ln w="6350">
            <a:solidFill>
              <a:srgbClr val="EDF0F5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3913632" y="45445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Kindra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5486400" y="4576572"/>
            <a:ext cx="594360" cy="210312"/>
          </a:xfrm>
          <a:prstGeom prst="roundRect">
            <a:avLst>
              <a:gd name="adj" fmla="val 50000"/>
            </a:avLst>
          </a:prstGeom>
          <a:solidFill>
            <a:srgbClr val="EEF1FE"/>
          </a:solidFill>
          <a:ln/>
        </p:spPr>
      </p:sp>
      <p:sp>
        <p:nvSpPr>
          <p:cNvPr id="111" name="Text 109"/>
          <p:cNvSpPr/>
          <p:nvPr/>
        </p:nvSpPr>
        <p:spPr>
          <a:xfrm>
            <a:off x="5486400" y="4576572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60" kern="0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</a:t>
            </a:r>
            <a:endParaRPr lang="en-US" sz="650" dirty="0"/>
          </a:p>
        </p:txBody>
      </p:sp>
      <p:sp>
        <p:nvSpPr>
          <p:cNvPr id="112" name="Text 110"/>
          <p:cNvSpPr/>
          <p:nvPr/>
        </p:nvSpPr>
        <p:spPr>
          <a:xfrm>
            <a:off x="6720840" y="45445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42K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7589520" y="4636008"/>
            <a:ext cx="960120" cy="100584"/>
          </a:xfrm>
          <a:prstGeom prst="roundRect">
            <a:avLst>
              <a:gd name="adj" fmla="val 45455"/>
            </a:avLst>
          </a:prstGeom>
          <a:solidFill>
            <a:srgbClr val="EDF1F6"/>
          </a:solidFill>
          <a:ln/>
        </p:spPr>
      </p:sp>
      <p:sp>
        <p:nvSpPr>
          <p:cNvPr id="114" name="Shape 112"/>
          <p:cNvSpPr/>
          <p:nvPr/>
        </p:nvSpPr>
        <p:spPr>
          <a:xfrm>
            <a:off x="7589520" y="4636008"/>
            <a:ext cx="48006" cy="100584"/>
          </a:xfrm>
          <a:prstGeom prst="roundRect">
            <a:avLst>
              <a:gd name="adj" fmla="val 95238"/>
            </a:avLst>
          </a:prstGeom>
          <a:solidFill>
            <a:srgbClr val="3E63DD"/>
          </a:solidFill>
          <a:ln/>
        </p:spPr>
      </p:sp>
      <p:sp>
        <p:nvSpPr>
          <p:cNvPr id="115" name="Text 113"/>
          <p:cNvSpPr/>
          <p:nvPr/>
        </p:nvSpPr>
        <p:spPr>
          <a:xfrm>
            <a:off x="8641080" y="454456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116" name="Text 114"/>
          <p:cNvSpPr/>
          <p:nvPr/>
        </p:nvSpPr>
        <p:spPr>
          <a:xfrm>
            <a:off x="10149840" y="4544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</a:t>
            </a:r>
            <a:endParaRPr lang="en-US" sz="950" dirty="0"/>
          </a:p>
        </p:txBody>
      </p:sp>
      <p:sp>
        <p:nvSpPr>
          <p:cNvPr id="117" name="Shape 115"/>
          <p:cNvSpPr/>
          <p:nvPr/>
        </p:nvSpPr>
        <p:spPr>
          <a:xfrm>
            <a:off x="3913632" y="4873752"/>
            <a:ext cx="7287768" cy="0"/>
          </a:xfrm>
          <a:prstGeom prst="line">
            <a:avLst/>
          </a:prstGeom>
          <a:noFill/>
          <a:ln w="6350">
            <a:solidFill>
              <a:srgbClr val="EDF0F5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3913632" y="48874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Womaness</a:t>
            </a:r>
            <a:endParaRPr lang="en-US" sz="1000" dirty="0"/>
          </a:p>
        </p:txBody>
      </p:sp>
      <p:sp>
        <p:nvSpPr>
          <p:cNvPr id="119" name="Shape 117"/>
          <p:cNvSpPr/>
          <p:nvPr/>
        </p:nvSpPr>
        <p:spPr>
          <a:xfrm>
            <a:off x="5486400" y="4919472"/>
            <a:ext cx="594360" cy="210312"/>
          </a:xfrm>
          <a:prstGeom prst="roundRect">
            <a:avLst>
              <a:gd name="adj" fmla="val 50000"/>
            </a:avLst>
          </a:prstGeom>
          <a:solidFill>
            <a:srgbClr val="EEF1FE"/>
          </a:solidFill>
          <a:ln/>
        </p:spPr>
      </p:sp>
      <p:sp>
        <p:nvSpPr>
          <p:cNvPr id="120" name="Text 118"/>
          <p:cNvSpPr/>
          <p:nvPr/>
        </p:nvSpPr>
        <p:spPr>
          <a:xfrm>
            <a:off x="5486400" y="4919472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60" kern="0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</a:t>
            </a:r>
            <a:endParaRPr lang="en-US" sz="650" dirty="0"/>
          </a:p>
        </p:txBody>
      </p:sp>
      <p:sp>
        <p:nvSpPr>
          <p:cNvPr id="121" name="Text 119"/>
          <p:cNvSpPr/>
          <p:nvPr/>
        </p:nvSpPr>
        <p:spPr>
          <a:xfrm>
            <a:off x="6720840" y="48874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41K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7589520" y="4978908"/>
            <a:ext cx="960120" cy="100584"/>
          </a:xfrm>
          <a:prstGeom prst="roundRect">
            <a:avLst>
              <a:gd name="adj" fmla="val 45455"/>
            </a:avLst>
          </a:prstGeom>
          <a:solidFill>
            <a:srgbClr val="EDF1F6"/>
          </a:solidFill>
          <a:ln/>
        </p:spPr>
      </p:sp>
      <p:sp>
        <p:nvSpPr>
          <p:cNvPr id="123" name="Shape 121"/>
          <p:cNvSpPr/>
          <p:nvPr/>
        </p:nvSpPr>
        <p:spPr>
          <a:xfrm>
            <a:off x="7589520" y="4978908"/>
            <a:ext cx="163220" cy="100584"/>
          </a:xfrm>
          <a:prstGeom prst="roundRect">
            <a:avLst>
              <a:gd name="adj" fmla="val 45455"/>
            </a:avLst>
          </a:prstGeom>
          <a:solidFill>
            <a:srgbClr val="3E63DD"/>
          </a:solidFill>
          <a:ln/>
        </p:spPr>
      </p:sp>
      <p:sp>
        <p:nvSpPr>
          <p:cNvPr id="124" name="Text 122"/>
          <p:cNvSpPr/>
          <p:nvPr/>
        </p:nvSpPr>
        <p:spPr>
          <a:xfrm>
            <a:off x="8641080" y="488746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125" name="Text 123"/>
          <p:cNvSpPr/>
          <p:nvPr/>
        </p:nvSpPr>
        <p:spPr>
          <a:xfrm>
            <a:off x="10149840" y="48874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</a:t>
            </a:r>
            <a:endParaRPr lang="en-US" sz="950" dirty="0"/>
          </a:p>
        </p:txBody>
      </p:sp>
      <p:sp>
        <p:nvSpPr>
          <p:cNvPr id="126" name="Text 124"/>
          <p:cNvSpPr/>
          <p:nvPr/>
        </p:nvSpPr>
        <p:spPr>
          <a:xfrm>
            <a:off x="3913632" y="52303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Sorted by estimated traffic (high to low).</a:t>
            </a:r>
            <a:endParaRPr lang="en-US" sz="750" dirty="0"/>
          </a:p>
        </p:txBody>
      </p:sp>
      <p:sp>
        <p:nvSpPr>
          <p:cNvPr id="127" name="Text 125"/>
          <p:cNvSpPr/>
          <p:nvPr/>
        </p:nvSpPr>
        <p:spPr>
          <a:xfrm>
            <a:off x="7589520" y="523036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Similarweb + Semrush, Apr–Jun 2026 · estimates, directional</a:t>
            </a:r>
            <a:endParaRPr lang="en-US" sz="750" dirty="0"/>
          </a:p>
        </p:txBody>
      </p:sp>
      <p:sp>
        <p:nvSpPr>
          <p:cNvPr id="128" name="Shape 126"/>
          <p:cNvSpPr/>
          <p:nvPr/>
        </p:nvSpPr>
        <p:spPr>
          <a:xfrm>
            <a:off x="731520" y="5669280"/>
            <a:ext cx="10725912" cy="658368"/>
          </a:xfrm>
          <a:prstGeom prst="roundRect">
            <a:avLst>
              <a:gd name="adj" fmla="val 12500"/>
            </a:avLst>
          </a:prstGeom>
          <a:solidFill>
            <a:srgbClr val="F7F9FC"/>
          </a:solidFill>
          <a:ln w="9525">
            <a:solidFill>
              <a:srgbClr val="EDF0F5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960120" y="57607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 1</a:t>
            </a:r>
            <a:endParaRPr lang="en-US" sz="750" dirty="0"/>
          </a:p>
        </p:txBody>
      </p:sp>
      <p:sp>
        <p:nvSpPr>
          <p:cNvPr id="130" name="Text 128"/>
          <p:cNvSpPr/>
          <p:nvPr/>
        </p:nvSpPr>
        <p:spPr>
          <a:xfrm>
            <a:off x="960120" y="5943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largest brands by estimated traffic are all </a:t>
            </a:r>
            <a:pPr indent="0" marL="0">
              <a:buNone/>
            </a:pPr>
            <a:r>
              <a:rPr lang="en-US" sz="9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adjacent competitors</a:t>
            </a:r>
            <a:pPr indent="0" marL="0">
              <a:buNone/>
            </a:pPr>
            <a:r>
              <a:rPr lang="en-US" sz="9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Largest direct competitor: </a:t>
            </a:r>
            <a:pPr indent="0" marL="0">
              <a:buNone/>
            </a:pPr>
            <a:r>
              <a:rPr lang="en-US" sz="9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Bonafide (1.1M)</a:t>
            </a:r>
            <a:pPr indent="0" marL="0">
              <a:buNone/>
            </a:pPr>
            <a:r>
              <a:rPr lang="en-US" sz="9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50" dirty="0"/>
          </a:p>
        </p:txBody>
      </p:sp>
      <p:sp>
        <p:nvSpPr>
          <p:cNvPr id="131" name="Shape 129"/>
          <p:cNvSpPr/>
          <p:nvPr/>
        </p:nvSpPr>
        <p:spPr>
          <a:xfrm>
            <a:off x="6172200" y="5779008"/>
            <a:ext cx="0" cy="438912"/>
          </a:xfrm>
          <a:prstGeom prst="line">
            <a:avLst/>
          </a:prstGeom>
          <a:noFill/>
          <a:ln w="9525">
            <a:solidFill>
              <a:srgbClr val="E7EBF1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6400800" y="57607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 2</a:t>
            </a:r>
            <a:endParaRPr lang="en-US" sz="750" dirty="0"/>
          </a:p>
        </p:txBody>
      </p:sp>
      <p:sp>
        <p:nvSpPr>
          <p:cNvPr id="133" name="Text 131"/>
          <p:cNvSpPr/>
          <p:nvPr/>
        </p:nvSpPr>
        <p:spPr>
          <a:xfrm>
            <a:off x="6400800" y="594360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share ranges from </a:t>
            </a:r>
            <a:pPr indent="0" marL="0">
              <a:buNone/>
            </a:pPr>
            <a:r>
              <a:rPr lang="en-US" sz="9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 to 75%</a:t>
            </a:r>
            <a:pPr indent="0" marL="0">
              <a:buNone/>
            </a:pPr>
            <a:r>
              <a:rPr lang="en-US" sz="9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across the measured brands. Highest values: </a:t>
            </a:r>
            <a:pPr indent="0" marL="0">
              <a:buNone/>
            </a:pPr>
            <a:r>
              <a:rPr lang="en-US" sz="9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Positiv (75%), Estroven (59%), Happy Mammoth (53%)</a:t>
            </a:r>
            <a:pPr indent="0" marL="0">
              <a:buNone/>
            </a:pPr>
            <a:r>
              <a:rPr lang="en-US" sz="9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50" dirty="0"/>
          </a:p>
        </p:txBody>
      </p:sp>
      <p:sp>
        <p:nvSpPr>
          <p:cNvPr id="134" name="Text 132"/>
          <p:cNvSpPr/>
          <p:nvPr/>
        </p:nvSpPr>
        <p:spPr>
          <a:xfrm>
            <a:off x="320040" y="64190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4A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ZyG</a:t>
            </a:r>
            <a:endParaRPr lang="en-US" sz="1250" dirty="0"/>
          </a:p>
        </p:txBody>
      </p:sp>
      <p:sp>
        <p:nvSpPr>
          <p:cNvPr id="135" name="Text 133"/>
          <p:cNvSpPr/>
          <p:nvPr/>
        </p:nvSpPr>
        <p:spPr>
          <a:xfrm>
            <a:off x="10835640" y="63550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11111">
                    <a:alpha val="5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Stripes
</a:t>
            </a:r>
            <a:pPr algn="r" indent="0" marL="0">
              <a:lnSpc>
                <a:spcPct val="95000"/>
              </a:lnSpc>
              <a:buNone/>
            </a:pPr>
            <a:r>
              <a:rPr lang="en-US" sz="500" b="1" spc="320" kern="0" dirty="0">
                <a:solidFill>
                  <a:srgbClr val="111111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OBSERVATIONS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804672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data shows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3410712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9525">
            <a:solidFill>
              <a:srgbClr val="E7EBF1"/>
            </a:solidFill>
            <a:prstDash val="solid"/>
          </a:ln>
          <a:effectLst>
            <a:outerShdw sx="100000" sy="100000" kx="0" ky="0" algn="bl" rotWithShape="0" blurRad="114300" dist="25400" dir="5400000">
              <a:srgbClr val="102A4D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1828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87552" y="230428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highest-traffic brands are adjacent competitors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87552" y="301752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Bonafide, the largest direct competitor, ranks fifth.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87552" y="3675888"/>
            <a:ext cx="2898648" cy="0"/>
          </a:xfrm>
          <a:prstGeom prst="line">
            <a:avLst/>
          </a:prstGeom>
          <a:noFill/>
          <a:ln w="9525">
            <a:solidFill>
              <a:srgbClr val="EDF0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76732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Positiv 5.8M · Midi 3.6M · Happy Mammoth 2.5M · Alloy 1.7M vs. Bonafide 1.1M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389120" y="1600200"/>
            <a:ext cx="3410712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9525">
            <a:solidFill>
              <a:srgbClr val="E7EBF1"/>
            </a:solidFill>
            <a:prstDash val="solid"/>
          </a:ln>
          <a:effectLst>
            <a:outerShdw sx="100000" sy="100000" kx="0" ky="0" algn="bl" rotWithShape="0" blurRad="114300" dist="25400" dir="5400000">
              <a:srgbClr val="102A4D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45152" y="1828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45152" y="230428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acquisition strategies differ by brand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45152" y="301752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brands rely on different primary paid channels.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45152" y="3675888"/>
            <a:ext cx="2898648" cy="0"/>
          </a:xfrm>
          <a:prstGeom prst="line">
            <a:avLst/>
          </a:prstGeom>
          <a:noFill/>
          <a:ln w="9525">
            <a:solidFill>
              <a:srgbClr val="EDF0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45152" y="376732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Search: Estroven, Bonafide, Alloy, Midi · Display: O Positiv, Womaness, Kindra · Social: Happy Mammoth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046720" y="1600200"/>
            <a:ext cx="3410712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9525">
            <a:solidFill>
              <a:srgbClr val="E7EBF1"/>
            </a:solidFill>
            <a:prstDash val="solid"/>
          </a:ln>
          <a:effectLst>
            <a:outerShdw sx="100000" sy="100000" kx="0" ky="0" algn="bl" rotWithShape="0" blurRad="114300" dist="25400" dir="5400000">
              <a:srgbClr val="102A4D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02752" y="1828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302752" y="230428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investment varies across direct competitors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02752" y="301752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invest heavily in paid channels, while others have minimal paid presence.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302752" y="3675888"/>
            <a:ext cx="2898648" cy="0"/>
          </a:xfrm>
          <a:prstGeom prst="line">
            <a:avLst/>
          </a:prstGeom>
          <a:noFill/>
          <a:ln w="9525">
            <a:solidFill>
              <a:srgbClr val="EDF0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02752" y="376732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High: Estroven 59%, Bonafide 42% · Low: Womaness 17%, Kindra 5%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31520" y="4709160"/>
            <a:ext cx="10725912" cy="548640"/>
          </a:xfrm>
          <a:prstGeom prst="roundRect">
            <a:avLst>
              <a:gd name="adj" fmla="val 15000"/>
            </a:avLst>
          </a:prstGeom>
          <a:solidFill>
            <a:srgbClr val="F7F9FC"/>
          </a:solidFill>
          <a:ln w="9525">
            <a:solidFill>
              <a:srgbClr val="EDF0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47091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Stripes' estimated traffic (~11K/month) is below the reporting threshold for Similarweb. Paid social activity is visible through Meta Ad Library.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0040" y="64190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4A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ZyG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835640" y="63550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11111">
                    <a:alpha val="5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Stripes
</a:t>
            </a:r>
            <a:pPr algn="r" indent="0" marL="0">
              <a:lnSpc>
                <a:spcPct val="95000"/>
              </a:lnSpc>
              <a:buNone/>
            </a:pPr>
            <a:r>
              <a:rPr lang="en-US" sz="500" b="1" spc="320" kern="0" dirty="0">
                <a:solidFill>
                  <a:srgbClr val="111111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804672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Implications for Stripes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31520" y="12984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Observations are stated separately from implications. Each implication is an inference from the data shown.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3410712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7EBF1"/>
            </a:solidFill>
            <a:prstDash val="solid"/>
          </a:ln>
          <a:effectLst>
            <a:outerShdw sx="100000" sy="100000" kx="0" ky="0" algn="bl" rotWithShape="0" blurRad="114300" dist="25400" dir="5400000">
              <a:srgbClr val="102A4D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87552" y="19385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" y="217627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Stripes' estimated traffic (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~11K/month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is below every measured competitor included in this analysis.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87552" y="3108960"/>
            <a:ext cx="2898648" cy="0"/>
          </a:xfrm>
          <a:prstGeom prst="line">
            <a:avLst/>
          </a:prstGeom>
          <a:noFill/>
          <a:ln w="9525">
            <a:solidFill>
              <a:srgbClr val="EDF0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2186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87552" y="345643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 traffic suggests </a:t>
            </a:r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top-of-funnel reach today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0" y="1737360"/>
            <a:ext cx="3410712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7EBF1"/>
            </a:solidFill>
            <a:prstDash val="solid"/>
          </a:ln>
          <a:effectLst>
            <a:outerShdw sx="100000" sy="100000" kx="0" ky="0" algn="bl" rotWithShape="0" blurRad="114300" dist="25400" dir="5400000">
              <a:srgbClr val="102A4D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45152" y="19385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45152" y="217627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competitors, the leading paid channel varies between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search, display and social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45152" y="3108960"/>
            <a:ext cx="2898648" cy="0"/>
          </a:xfrm>
          <a:prstGeom prst="line">
            <a:avLst/>
          </a:prstGeom>
          <a:noFill/>
          <a:ln w="9525">
            <a:solidFill>
              <a:srgbClr val="EDF0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45152" y="32186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45152" y="345643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strategy should be </a:t>
            </a:r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through experimentation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rather than assumed.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0" y="1737360"/>
            <a:ext cx="3410712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7EBF1"/>
            </a:solidFill>
            <a:prstDash val="solid"/>
          </a:ln>
          <a:effectLst>
            <a:outerShdw sx="100000" sy="100000" kx="0" ky="0" algn="bl" rotWithShape="0" blurRad="114300" dist="25400" dir="5400000">
              <a:srgbClr val="102A4D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02752" y="19385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302752" y="217627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investment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varies across direct competitors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302752" y="3108960"/>
            <a:ext cx="2898648" cy="0"/>
          </a:xfrm>
          <a:prstGeom prst="line">
            <a:avLst/>
          </a:prstGeom>
          <a:noFill/>
          <a:ln w="9525">
            <a:solidFill>
              <a:srgbClr val="EDF0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02752" y="32186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302752" y="345643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competitors do </a:t>
            </a:r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appear uniformly aggressive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paid acquisition.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1520" y="4572000"/>
            <a:ext cx="10725912" cy="685800"/>
          </a:xfrm>
          <a:prstGeom prst="roundRect">
            <a:avLst>
              <a:gd name="adj" fmla="val 12000"/>
            </a:avLst>
          </a:prstGeom>
          <a:solidFill>
            <a:srgbClr val="0A2540"/>
          </a:solidFill>
          <a:ln/>
          <a:effectLst>
            <a:outerShdw sx="100000" sy="100000" kx="0" ky="0" algn="bl" rotWithShape="0" blurRad="114300" dist="25400" dir="5400000">
              <a:srgbClr val="102A4D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05840" y="45720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FC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691640" y="457200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focuses on the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acquisition strategy</a:t>
            </a:r>
            <a:pPr indent="0" marL="0">
              <a:buNone/>
            </a:pPr>
            <a:r>
              <a:rPr lang="en-US" sz="1250" dirty="0">
                <a:solidFill>
                  <a:srgbClr val="EA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built around Stripes' hero product.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0698480" y="457200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9FC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20040" y="64190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4A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ZyG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835640" y="63550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11111">
                    <a:alpha val="5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Stripes
</a:t>
            </a:r>
            <a:pPr algn="r" indent="0" marL="0">
              <a:lnSpc>
                <a:spcPct val="95000"/>
              </a:lnSpc>
              <a:buNone/>
            </a:pPr>
            <a:r>
              <a:rPr lang="en-US" sz="500" b="1" spc="320" kern="0" dirty="0">
                <a:solidFill>
                  <a:srgbClr val="111111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2026-07-31T06:28:12Z</dcterms:created>
  <dcterms:modified xsi:type="dcterms:W3CDTF">2026-07-31T06:28:12Z</dcterms:modified>
</cp:coreProperties>
</file>