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659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HOME ASSIGNMENT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Product &amp; CRO Manager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054096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Assignment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49300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thinking, CRO strategy and launch execution for Stripes Beauty.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16168" y="4114800"/>
            <a:ext cx="365760" cy="0"/>
          </a:xfrm>
          <a:prstGeom prst="line">
            <a:avLst/>
          </a:prstGeom>
          <a:noFill/>
          <a:ln w="19050">
            <a:solidFill>
              <a:srgbClr val="DC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3708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20" kern="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4645152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Yoav Gersi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5029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3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9184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A00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ZyG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835640" y="633679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11111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Stripes
</a:t>
            </a:r>
            <a:pPr algn="r" indent="0" marL="0">
              <a:lnSpc>
                <a:spcPct val="95000"/>
              </a:lnSpc>
              <a:buNone/>
            </a:pPr>
            <a:r>
              <a:rPr lang="en-US" sz="500" b="1" spc="300" kern="0" dirty="0">
                <a:solidFill>
                  <a:srgbClr val="11111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1206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STRIPES GROWTH CASE STUDY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inside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3502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parts - from understanding the market to launching the hero product, optimizing the funnel, and scaling the work with AI.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5239512" cy="178308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24128" y="22768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4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874520" y="22951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74520" y="25328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&amp; Competitive Landscape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74520" y="302666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Stripes competes with, and how brands in the category acquire customers.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5239512" cy="178308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10528" y="22768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4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7360920" y="22951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60920" y="25328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Product Launch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60920" y="302666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creative angle, campaign landing page, funnel and KPIs for The Inside Addition.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959352"/>
            <a:ext cx="5239512" cy="178308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24128" y="42702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4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1874520" y="42885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74520" y="45262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 Optimization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874520" y="5020056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A/B experiments I'd prioritize on stripesbeauty.us.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959352"/>
            <a:ext cx="5239512" cy="178308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10528" y="42702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4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7360920" y="42885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60920" y="45262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Approach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60920" y="5020056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AI capability I'd build to help the growth team decide what to build next.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A00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ZyG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835640" y="633679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11111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Stripes
</a:t>
            </a:r>
            <a:pPr algn="r" indent="0" marL="0">
              <a:lnSpc>
                <a:spcPct val="95000"/>
              </a:lnSpc>
              <a:buNone/>
            </a:pPr>
            <a:r>
              <a:rPr lang="en-US" sz="500" b="1" spc="300" kern="0" dirty="0">
                <a:solidFill>
                  <a:srgbClr val="11111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84832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00" b="1" dirty="0">
                <a:solidFill>
                  <a:srgbClr val="E4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200" dirty="0"/>
          </a:p>
        </p:txBody>
      </p:sp>
      <p:sp>
        <p:nvSpPr>
          <p:cNvPr id="3" name="Shape 1"/>
          <p:cNvSpPr/>
          <p:nvPr/>
        </p:nvSpPr>
        <p:spPr>
          <a:xfrm>
            <a:off x="3767328" y="2331720"/>
            <a:ext cx="0" cy="2240280"/>
          </a:xfrm>
          <a:prstGeom prst="line">
            <a:avLst/>
          </a:prstGeom>
          <a:noFill/>
          <a:ln w="19050">
            <a:solidFill>
              <a:srgbClr val="E4EA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60520" y="23957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60520" y="2724912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market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160520" y="3493008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thinking about growth opportunities, I wanted to understand who Stripes competes with, who it's built for, and how brands in this space acquire customers.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9184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A00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ZyG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835640" y="633679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11111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Stripes
</a:t>
            </a:r>
            <a:pPr algn="r" indent="0" marL="0">
              <a:lnSpc>
                <a:spcPct val="95000"/>
              </a:lnSpc>
              <a:buNone/>
            </a:pPr>
            <a:r>
              <a:rPr lang="en-US" sz="500" b="1" spc="300" kern="0" dirty="0">
                <a:solidFill>
                  <a:srgbClr val="11111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1206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OVERVIEW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Stripes really competing with?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5257800" cy="3063240"/>
          </a:xfrm>
          <a:prstGeom prst="roundRect">
            <a:avLst>
              <a:gd name="adj" fmla="val 3284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4128" y="20299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CATEGORY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24128" y="23591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Women's Health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24128" y="2761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C2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4128" y="30723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Menopause Wellness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24128" y="36576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Stripes isn't built around solving one symptom. It's built around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women throughout menopause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9632" y="1783080"/>
            <a:ext cx="5257800" cy="3063240"/>
          </a:xfrm>
          <a:prstGeom prst="roundRect">
            <a:avLst>
              <a:gd name="adj" fmla="val 3284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20299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CUSTOMER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92240" y="234086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experiencing peri- or post-menopause looking for: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10528" y="3172968"/>
            <a:ext cx="91440" cy="91440"/>
          </a:xfrm>
          <a:prstGeom prst="ellipse">
            <a:avLst/>
          </a:prstGeom>
          <a:solidFill>
            <a:srgbClr val="3E63DD"/>
          </a:solidFill>
          <a:ln/>
        </p:spPr>
      </p:sp>
      <p:sp>
        <p:nvSpPr>
          <p:cNvPr id="14" name="Text 12"/>
          <p:cNvSpPr/>
          <p:nvPr/>
        </p:nvSpPr>
        <p:spPr>
          <a:xfrm>
            <a:off x="6729984" y="31089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wellness support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510528" y="3630168"/>
            <a:ext cx="91440" cy="91440"/>
          </a:xfrm>
          <a:prstGeom prst="ellipse">
            <a:avLst/>
          </a:prstGeom>
          <a:solidFill>
            <a:srgbClr val="3E63DD"/>
          </a:solidFill>
          <a:ln/>
        </p:spPr>
      </p:sp>
      <p:sp>
        <p:nvSpPr>
          <p:cNvPr id="16" name="Text 14"/>
          <p:cNvSpPr/>
          <p:nvPr/>
        </p:nvSpPr>
        <p:spPr>
          <a:xfrm>
            <a:off x="6729984" y="35661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Non-hormonal solutions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10528" y="4087368"/>
            <a:ext cx="91440" cy="91440"/>
          </a:xfrm>
          <a:prstGeom prst="ellipse">
            <a:avLst/>
          </a:prstGeom>
          <a:solidFill>
            <a:srgbClr val="3E63DD"/>
          </a:solidFill>
          <a:ln/>
        </p:spPr>
      </p:sp>
      <p:sp>
        <p:nvSpPr>
          <p:cNvPr id="18" name="Text 16"/>
          <p:cNvSpPr/>
          <p:nvPr/>
        </p:nvSpPr>
        <p:spPr>
          <a:xfrm>
            <a:off x="6729984" y="40233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that fit naturally into their routine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31520" y="5074920"/>
            <a:ext cx="10725912" cy="841248"/>
          </a:xfrm>
          <a:prstGeom prst="roundRect">
            <a:avLst>
              <a:gd name="adj" fmla="val 14130"/>
            </a:avLst>
          </a:prstGeom>
          <a:solidFill>
            <a:srgbClr val="0A2540"/>
          </a:solidFill>
          <a:ln/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24128" y="5074920"/>
            <a:ext cx="1417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9FC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514600" y="5074920"/>
            <a:ext cx="8577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A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became the framework I used to decide which brands belonged in the competitive analysis.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29184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A00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ZyG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835640" y="633679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11111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Stripes
</a:t>
            </a:r>
            <a:pPr algn="r" indent="0" marL="0">
              <a:lnSpc>
                <a:spcPct val="95000"/>
              </a:lnSpc>
              <a:buNone/>
            </a:pPr>
            <a:r>
              <a:rPr lang="en-US" sz="500" b="1" spc="300" kern="0" dirty="0">
                <a:solidFill>
                  <a:srgbClr val="11111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1206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 selected competitors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27632"/>
            <a:ext cx="5239512" cy="1051560"/>
          </a:xfrm>
          <a:prstGeom prst="roundRect">
            <a:avLst>
              <a:gd name="adj" fmla="val 9565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8288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CRITERION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" y="206654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customer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3957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experiencing menopause.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627632"/>
            <a:ext cx="5239512" cy="1051560"/>
          </a:xfrm>
          <a:prstGeom prst="roundRect">
            <a:avLst>
              <a:gd name="adj" fmla="val 9565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8288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CRITERION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92240" y="206654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job to be done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3957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Helping women manage menopause-related symptoms.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852928"/>
            <a:ext cx="10725912" cy="658368"/>
          </a:xfrm>
          <a:prstGeom prst="roundRect">
            <a:avLst>
              <a:gd name="adj" fmla="val 15278"/>
            </a:avLst>
          </a:prstGeom>
          <a:solidFill>
            <a:srgbClr val="F7F9FC"/>
          </a:solidFill>
          <a:ln w="9525">
            <a:solidFill>
              <a:srgbClr val="EDF0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7552" y="305409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A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987552" y="3054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17320" y="2852928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brand met both conditions, it was included.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3730752"/>
            <a:ext cx="5239512" cy="1600200"/>
          </a:xfrm>
          <a:prstGeom prst="roundRect">
            <a:avLst>
              <a:gd name="adj" fmla="val 6286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05840" y="3968496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EF1FE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96849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05840" y="4389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competitors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754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 focused primarily on menopause wellness.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3730752"/>
            <a:ext cx="5239512" cy="1600200"/>
          </a:xfrm>
          <a:prstGeom prst="roundRect">
            <a:avLst>
              <a:gd name="adj" fmla="val 6286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92240" y="396849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396849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5A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92240" y="4389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 competitors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92240" y="4754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Broader wellness brands competing for the same customer.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29184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A00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ZyG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835640" y="633679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11111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Stripes
</a:t>
            </a:r>
            <a:pPr algn="r" indent="0" marL="0">
              <a:lnSpc>
                <a:spcPct val="95000"/>
              </a:lnSpc>
              <a:buNone/>
            </a:pPr>
            <a:r>
              <a:rPr lang="en-US" sz="500" b="1" spc="300" kern="0" dirty="0">
                <a:solidFill>
                  <a:srgbClr val="11111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1206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STOOD OUT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found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572768"/>
            <a:ext cx="3794760" cy="1417320"/>
          </a:xfrm>
          <a:prstGeom prst="roundRect">
            <a:avLst>
              <a:gd name="adj" fmla="val 7097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9264" y="17190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9264" y="19385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biggest brands weren't always the closest competitors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9264" y="243230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high-traffic brands came from </a:t>
            </a:r>
            <a:pPr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 wellness categories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rather than menopause-focused brands.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3063240"/>
            <a:ext cx="3794760" cy="1417320"/>
          </a:xfrm>
          <a:prstGeom prst="roundRect">
            <a:avLst>
              <a:gd name="adj" fmla="val 7097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9264" y="320954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9264" y="3429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acquisition looks very different across brands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9264" y="392277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rely heavily on Search. Others invest more in Display or Social. </a:t>
            </a:r>
            <a:pPr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isn't a single winning channel.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4553712"/>
            <a:ext cx="3794760" cy="1417320"/>
          </a:xfrm>
          <a:prstGeom prst="roundRect">
            <a:avLst>
              <a:gd name="adj" fmla="val 7097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9264" y="470001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69264" y="49194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direct competitors don't follow the same playbook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9264" y="54132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invest aggressively in paid acquisition. Others appear to rely much more on </a:t>
            </a:r>
            <a:pPr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growth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1572768"/>
            <a:ext cx="6748272" cy="4434840"/>
          </a:xfrm>
          <a:prstGeom prst="roundRect">
            <a:avLst>
              <a:gd name="adj" fmla="val 2268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65192" y="178308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 · PAID ACQUISITION BY BRAND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965192" y="22128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309360" y="22128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406640" y="22128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5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412480" y="22128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SHARE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241280" y="22128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5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CHANNEL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965192" y="2450592"/>
            <a:ext cx="6236208" cy="0"/>
          </a:xfrm>
          <a:prstGeom prst="line">
            <a:avLst/>
          </a:prstGeom>
          <a:noFill/>
          <a:ln w="12700">
            <a:solidFill>
              <a:srgbClr val="E7EB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65192" y="2542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Positiv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2587752"/>
            <a:ext cx="749808" cy="201168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58775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5A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7406640" y="2542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412480" y="2642616"/>
            <a:ext cx="914400" cy="91440"/>
          </a:xfrm>
          <a:prstGeom prst="roundRect">
            <a:avLst>
              <a:gd name="adj" fmla="val 50000"/>
            </a:avLst>
          </a:prstGeom>
          <a:solidFill>
            <a:srgbClr val="EDF1F6"/>
          </a:solidFill>
          <a:ln/>
        </p:spPr>
      </p:sp>
      <p:sp>
        <p:nvSpPr>
          <p:cNvPr id="29" name="Shape 27"/>
          <p:cNvSpPr/>
          <p:nvPr/>
        </p:nvSpPr>
        <p:spPr>
          <a:xfrm>
            <a:off x="8412480" y="2642616"/>
            <a:ext cx="685800" cy="91440"/>
          </a:xfrm>
          <a:prstGeom prst="roundRect">
            <a:avLst>
              <a:gd name="adj" fmla="val 50000"/>
            </a:avLst>
          </a:prstGeom>
          <a:solidFill>
            <a:srgbClr val="0A2540"/>
          </a:solidFill>
          <a:ln/>
        </p:spPr>
      </p:sp>
      <p:sp>
        <p:nvSpPr>
          <p:cNvPr id="30" name="Text 28"/>
          <p:cNvSpPr/>
          <p:nvPr/>
        </p:nvSpPr>
        <p:spPr>
          <a:xfrm>
            <a:off x="9464040" y="254203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241280" y="2542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965192" y="2889504"/>
            <a:ext cx="6236208" cy="0"/>
          </a:xfrm>
          <a:prstGeom prst="line">
            <a:avLst/>
          </a:prstGeom>
          <a:noFill/>
          <a:ln w="6350">
            <a:solidFill>
              <a:srgbClr val="EDF0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65192" y="29077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09360" y="2953512"/>
            <a:ext cx="749808" cy="201168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29535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5A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7406640" y="29077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3.6M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412480" y="3008376"/>
            <a:ext cx="914400" cy="91440"/>
          </a:xfrm>
          <a:prstGeom prst="roundRect">
            <a:avLst>
              <a:gd name="adj" fmla="val 50000"/>
            </a:avLst>
          </a:prstGeom>
          <a:solidFill>
            <a:srgbClr val="EDF1F6"/>
          </a:solidFill>
          <a:ln/>
        </p:spPr>
      </p:sp>
      <p:sp>
        <p:nvSpPr>
          <p:cNvPr id="38" name="Shape 36"/>
          <p:cNvSpPr/>
          <p:nvPr/>
        </p:nvSpPr>
        <p:spPr>
          <a:xfrm>
            <a:off x="8412480" y="3008376"/>
            <a:ext cx="237744" cy="91440"/>
          </a:xfrm>
          <a:prstGeom prst="roundRect">
            <a:avLst>
              <a:gd name="adj" fmla="val 50000"/>
            </a:avLst>
          </a:prstGeom>
          <a:solidFill>
            <a:srgbClr val="0A2540"/>
          </a:solidFill>
          <a:ln/>
        </p:spPr>
      </p:sp>
      <p:sp>
        <p:nvSpPr>
          <p:cNvPr id="39" name="Text 37"/>
          <p:cNvSpPr/>
          <p:nvPr/>
        </p:nvSpPr>
        <p:spPr>
          <a:xfrm>
            <a:off x="9464040" y="29077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241280" y="29077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965192" y="3255264"/>
            <a:ext cx="6236208" cy="0"/>
          </a:xfrm>
          <a:prstGeom prst="line">
            <a:avLst/>
          </a:prstGeom>
          <a:noFill/>
          <a:ln w="6350">
            <a:solidFill>
              <a:srgbClr val="EDF0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65192" y="32735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Mammoth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09360" y="3319272"/>
            <a:ext cx="749808" cy="201168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/>
        </p:spPr>
      </p:sp>
      <p:sp>
        <p:nvSpPr>
          <p:cNvPr id="44" name="Text 42"/>
          <p:cNvSpPr/>
          <p:nvPr/>
        </p:nvSpPr>
        <p:spPr>
          <a:xfrm>
            <a:off x="6309360" y="331927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5A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7406640" y="32735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2.5M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412480" y="3374136"/>
            <a:ext cx="914400" cy="91440"/>
          </a:xfrm>
          <a:prstGeom prst="roundRect">
            <a:avLst>
              <a:gd name="adj" fmla="val 50000"/>
            </a:avLst>
          </a:prstGeom>
          <a:solidFill>
            <a:srgbClr val="EDF1F6"/>
          </a:solidFill>
          <a:ln/>
        </p:spPr>
      </p:sp>
      <p:sp>
        <p:nvSpPr>
          <p:cNvPr id="47" name="Shape 45"/>
          <p:cNvSpPr/>
          <p:nvPr/>
        </p:nvSpPr>
        <p:spPr>
          <a:xfrm>
            <a:off x="8412480" y="3374136"/>
            <a:ext cx="484632" cy="91440"/>
          </a:xfrm>
          <a:prstGeom prst="roundRect">
            <a:avLst>
              <a:gd name="adj" fmla="val 50000"/>
            </a:avLst>
          </a:prstGeom>
          <a:solidFill>
            <a:srgbClr val="0A2540"/>
          </a:solidFill>
          <a:ln/>
        </p:spPr>
      </p:sp>
      <p:sp>
        <p:nvSpPr>
          <p:cNvPr id="48" name="Text 46"/>
          <p:cNvSpPr/>
          <p:nvPr/>
        </p:nvSpPr>
        <p:spPr>
          <a:xfrm>
            <a:off x="9464040" y="327355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241280" y="32735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965192" y="3621024"/>
            <a:ext cx="6236208" cy="0"/>
          </a:xfrm>
          <a:prstGeom prst="line">
            <a:avLst/>
          </a:prstGeom>
          <a:noFill/>
          <a:ln w="6350">
            <a:solidFill>
              <a:srgbClr val="EDF0F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65192" y="36393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Alloy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309360" y="3685032"/>
            <a:ext cx="749808" cy="201168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/>
        </p:spPr>
      </p:sp>
      <p:sp>
        <p:nvSpPr>
          <p:cNvPr id="53" name="Text 51"/>
          <p:cNvSpPr/>
          <p:nvPr/>
        </p:nvSpPr>
        <p:spPr>
          <a:xfrm>
            <a:off x="6309360" y="368503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5A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7406640" y="36393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1.7M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412480" y="3739896"/>
            <a:ext cx="914400" cy="91440"/>
          </a:xfrm>
          <a:prstGeom prst="roundRect">
            <a:avLst>
              <a:gd name="adj" fmla="val 50000"/>
            </a:avLst>
          </a:prstGeom>
          <a:solidFill>
            <a:srgbClr val="EDF1F6"/>
          </a:solidFill>
          <a:ln/>
        </p:spPr>
      </p:sp>
      <p:sp>
        <p:nvSpPr>
          <p:cNvPr id="56" name="Shape 54"/>
          <p:cNvSpPr/>
          <p:nvPr/>
        </p:nvSpPr>
        <p:spPr>
          <a:xfrm>
            <a:off x="8412480" y="3739896"/>
            <a:ext cx="356616" cy="91440"/>
          </a:xfrm>
          <a:prstGeom prst="roundRect">
            <a:avLst>
              <a:gd name="adj" fmla="val 50000"/>
            </a:avLst>
          </a:prstGeom>
          <a:solidFill>
            <a:srgbClr val="0A2540"/>
          </a:solidFill>
          <a:ln/>
        </p:spPr>
      </p:sp>
      <p:sp>
        <p:nvSpPr>
          <p:cNvPr id="57" name="Text 55"/>
          <p:cNvSpPr/>
          <p:nvPr/>
        </p:nvSpPr>
        <p:spPr>
          <a:xfrm>
            <a:off x="9464040" y="363931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0241280" y="36393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965192" y="3986784"/>
            <a:ext cx="6236208" cy="0"/>
          </a:xfrm>
          <a:prstGeom prst="line">
            <a:avLst/>
          </a:prstGeom>
          <a:noFill/>
          <a:ln w="6350">
            <a:solidFill>
              <a:srgbClr val="EDF0F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65192" y="4005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Bonafide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309360" y="405079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EEF1FE"/>
          </a:solidFill>
          <a:ln/>
        </p:spPr>
      </p:sp>
      <p:sp>
        <p:nvSpPr>
          <p:cNvPr id="62" name="Text 60"/>
          <p:cNvSpPr/>
          <p:nvPr/>
        </p:nvSpPr>
        <p:spPr>
          <a:xfrm>
            <a:off x="6309360" y="40507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7406640" y="40050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1.1M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412480" y="4105656"/>
            <a:ext cx="914400" cy="91440"/>
          </a:xfrm>
          <a:prstGeom prst="roundRect">
            <a:avLst>
              <a:gd name="adj" fmla="val 50000"/>
            </a:avLst>
          </a:prstGeom>
          <a:solidFill>
            <a:srgbClr val="EDF1F6"/>
          </a:solidFill>
          <a:ln/>
        </p:spPr>
      </p:sp>
      <p:sp>
        <p:nvSpPr>
          <p:cNvPr id="65" name="Shape 63"/>
          <p:cNvSpPr/>
          <p:nvPr/>
        </p:nvSpPr>
        <p:spPr>
          <a:xfrm>
            <a:off x="8412480" y="4105656"/>
            <a:ext cx="384048" cy="91440"/>
          </a:xfrm>
          <a:prstGeom prst="roundRect">
            <a:avLst>
              <a:gd name="adj" fmla="val 50000"/>
            </a:avLst>
          </a:prstGeom>
          <a:solidFill>
            <a:srgbClr val="3E63DD"/>
          </a:solidFill>
          <a:ln/>
        </p:spPr>
      </p:sp>
      <p:sp>
        <p:nvSpPr>
          <p:cNvPr id="66" name="Text 64"/>
          <p:cNvSpPr/>
          <p:nvPr/>
        </p:nvSpPr>
        <p:spPr>
          <a:xfrm>
            <a:off x="9464040" y="40050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0241280" y="40050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965192" y="4352544"/>
            <a:ext cx="6236208" cy="0"/>
          </a:xfrm>
          <a:prstGeom prst="line">
            <a:avLst/>
          </a:prstGeom>
          <a:noFill/>
          <a:ln w="6350">
            <a:solidFill>
              <a:srgbClr val="EDF0F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65192" y="43708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Estroven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309360" y="441655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EEF1FE"/>
          </a:solidFill>
          <a:ln/>
        </p:spPr>
      </p:sp>
      <p:sp>
        <p:nvSpPr>
          <p:cNvPr id="71" name="Text 69"/>
          <p:cNvSpPr/>
          <p:nvPr/>
        </p:nvSpPr>
        <p:spPr>
          <a:xfrm>
            <a:off x="6309360" y="44165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7406640" y="43708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253K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8412480" y="4471416"/>
            <a:ext cx="914400" cy="91440"/>
          </a:xfrm>
          <a:prstGeom prst="roundRect">
            <a:avLst>
              <a:gd name="adj" fmla="val 50000"/>
            </a:avLst>
          </a:prstGeom>
          <a:solidFill>
            <a:srgbClr val="EDF1F6"/>
          </a:solidFill>
          <a:ln/>
        </p:spPr>
      </p:sp>
      <p:sp>
        <p:nvSpPr>
          <p:cNvPr id="74" name="Shape 72"/>
          <p:cNvSpPr/>
          <p:nvPr/>
        </p:nvSpPr>
        <p:spPr>
          <a:xfrm>
            <a:off x="8412480" y="4471416"/>
            <a:ext cx="539496" cy="91440"/>
          </a:xfrm>
          <a:prstGeom prst="roundRect">
            <a:avLst>
              <a:gd name="adj" fmla="val 50000"/>
            </a:avLst>
          </a:prstGeom>
          <a:solidFill>
            <a:srgbClr val="3E63DD"/>
          </a:solidFill>
          <a:ln/>
        </p:spPr>
      </p:sp>
      <p:sp>
        <p:nvSpPr>
          <p:cNvPr id="75" name="Text 73"/>
          <p:cNvSpPr/>
          <p:nvPr/>
        </p:nvSpPr>
        <p:spPr>
          <a:xfrm>
            <a:off x="9464040" y="437083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10241280" y="43708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965192" y="4718304"/>
            <a:ext cx="6236208" cy="0"/>
          </a:xfrm>
          <a:prstGeom prst="line">
            <a:avLst/>
          </a:prstGeom>
          <a:noFill/>
          <a:ln w="6350">
            <a:solidFill>
              <a:srgbClr val="EDF0F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65192" y="47365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Kindra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309360" y="478231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EEF1FE"/>
          </a:solidFill>
          <a:ln/>
        </p:spPr>
      </p:sp>
      <p:sp>
        <p:nvSpPr>
          <p:cNvPr id="80" name="Text 78"/>
          <p:cNvSpPr/>
          <p:nvPr/>
        </p:nvSpPr>
        <p:spPr>
          <a:xfrm>
            <a:off x="6309360" y="478231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7406640" y="47365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42K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8412480" y="4837176"/>
            <a:ext cx="914400" cy="91440"/>
          </a:xfrm>
          <a:prstGeom prst="roundRect">
            <a:avLst>
              <a:gd name="adj" fmla="val 50000"/>
            </a:avLst>
          </a:prstGeom>
          <a:solidFill>
            <a:srgbClr val="EDF1F6"/>
          </a:solidFill>
          <a:ln/>
        </p:spPr>
      </p:sp>
      <p:sp>
        <p:nvSpPr>
          <p:cNvPr id="83" name="Shape 81"/>
          <p:cNvSpPr/>
          <p:nvPr/>
        </p:nvSpPr>
        <p:spPr>
          <a:xfrm>
            <a:off x="8412480" y="4837176"/>
            <a:ext cx="45720" cy="91440"/>
          </a:xfrm>
          <a:prstGeom prst="roundRect">
            <a:avLst>
              <a:gd name="adj" fmla="val 100000"/>
            </a:avLst>
          </a:prstGeom>
          <a:solidFill>
            <a:srgbClr val="3E63DD"/>
          </a:solidFill>
          <a:ln/>
        </p:spPr>
      </p:sp>
      <p:sp>
        <p:nvSpPr>
          <p:cNvPr id="84" name="Text 82"/>
          <p:cNvSpPr/>
          <p:nvPr/>
        </p:nvSpPr>
        <p:spPr>
          <a:xfrm>
            <a:off x="9464040" y="47365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10241280" y="47365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4965192" y="5084064"/>
            <a:ext cx="6236208" cy="0"/>
          </a:xfrm>
          <a:prstGeom prst="line">
            <a:avLst/>
          </a:prstGeom>
          <a:noFill/>
          <a:ln w="6350">
            <a:solidFill>
              <a:srgbClr val="EDF0F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965192" y="51023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Womaness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6309360" y="514807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EEF1FE"/>
          </a:solidFill>
          <a:ln/>
        </p:spPr>
      </p:sp>
      <p:sp>
        <p:nvSpPr>
          <p:cNvPr id="89" name="Text 87"/>
          <p:cNvSpPr/>
          <p:nvPr/>
        </p:nvSpPr>
        <p:spPr>
          <a:xfrm>
            <a:off x="6309360" y="514807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7406640" y="51023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41K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8412480" y="5202936"/>
            <a:ext cx="914400" cy="91440"/>
          </a:xfrm>
          <a:prstGeom prst="roundRect">
            <a:avLst>
              <a:gd name="adj" fmla="val 50000"/>
            </a:avLst>
          </a:prstGeom>
          <a:solidFill>
            <a:srgbClr val="EDF1F6"/>
          </a:solidFill>
          <a:ln/>
        </p:spPr>
      </p:sp>
      <p:sp>
        <p:nvSpPr>
          <p:cNvPr id="92" name="Shape 90"/>
          <p:cNvSpPr/>
          <p:nvPr/>
        </p:nvSpPr>
        <p:spPr>
          <a:xfrm>
            <a:off x="8412480" y="5202936"/>
            <a:ext cx="155448" cy="91440"/>
          </a:xfrm>
          <a:prstGeom prst="roundRect">
            <a:avLst>
              <a:gd name="adj" fmla="val 50000"/>
            </a:avLst>
          </a:prstGeom>
          <a:solidFill>
            <a:srgbClr val="3E63DD"/>
          </a:solidFill>
          <a:ln/>
        </p:spPr>
      </p:sp>
      <p:sp>
        <p:nvSpPr>
          <p:cNvPr id="93" name="Text 91"/>
          <p:cNvSpPr/>
          <p:nvPr/>
        </p:nvSpPr>
        <p:spPr>
          <a:xfrm>
            <a:off x="9464040" y="510235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10241280" y="51023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4965192" y="5650992"/>
            <a:ext cx="6236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share = paid search + social + display, as % of traffic. Similarweb + Semrush, Apr–Jun 2026 · estimates, directional.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329184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A00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ZyG</a:t>
            </a:r>
            <a:endParaRPr lang="en-US" sz="1250" dirty="0"/>
          </a:p>
        </p:txBody>
      </p:sp>
      <p:sp>
        <p:nvSpPr>
          <p:cNvPr id="97" name="Text 95"/>
          <p:cNvSpPr/>
          <p:nvPr/>
        </p:nvSpPr>
        <p:spPr>
          <a:xfrm>
            <a:off x="10835640" y="633679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11111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Stripes
</a:t>
            </a:r>
            <a:pPr algn="r" indent="0" marL="0">
              <a:lnSpc>
                <a:spcPct val="95000"/>
              </a:lnSpc>
              <a:buNone/>
            </a:pPr>
            <a:r>
              <a:rPr lang="en-US" sz="500" b="1" spc="300" kern="0" dirty="0">
                <a:solidFill>
                  <a:srgbClr val="11111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1206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LEARNED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takeaways from the research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410712" cy="2697480"/>
          </a:xfrm>
          <a:prstGeom prst="roundRect">
            <a:avLst>
              <a:gd name="adj" fmla="val 3729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9385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248716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fit matters more than category fit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2004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closest competitors aren't always menopause brands. They're the brands solving similar problems for the same customer.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737360"/>
            <a:ext cx="3410712" cy="2697480"/>
          </a:xfrm>
          <a:prstGeom prst="roundRect">
            <a:avLst>
              <a:gd name="adj" fmla="val 3729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19385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663440" y="248716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isn't one winning acquisition strategy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32004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 brands grow through different channel mixes. There isn't a formula to copy.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410712" cy="2697480"/>
          </a:xfrm>
          <a:prstGeom prst="roundRect">
            <a:avLst>
              <a:gd name="adj" fmla="val 3729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1040" y="19385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321040" y="248716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Stripes already has a clear positioning advantage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21040" y="32004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brands focus on individual symptoms. Stripes can build acquisition around supporting the entire menopause journey.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709160"/>
            <a:ext cx="10725912" cy="1005840"/>
          </a:xfrm>
          <a:prstGeom prst="roundRect">
            <a:avLst>
              <a:gd name="adj" fmla="val 11818"/>
            </a:avLst>
          </a:prstGeom>
          <a:solidFill>
            <a:srgbClr val="0A2540"/>
          </a:solidFill>
          <a:ln/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24128" y="47091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9FC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I'D FOCUS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06040" y="4709160"/>
            <a:ext cx="8485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A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copying competitors, I'd build a growth strategy around Stripes' strongest differentiator: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the full menopause journey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A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9184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A00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ZyG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835640" y="633679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11111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Stripes
</a:t>
            </a:r>
            <a:pPr algn="r" indent="0" marL="0">
              <a:lnSpc>
                <a:spcPct val="95000"/>
              </a:lnSpc>
              <a:buNone/>
            </a:pPr>
            <a:r>
              <a:rPr lang="en-US" sz="500" b="1" spc="300" kern="0" dirty="0">
                <a:solidFill>
                  <a:srgbClr val="11111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84832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00" b="1" dirty="0">
                <a:solidFill>
                  <a:srgbClr val="E4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200" dirty="0"/>
          </a:p>
        </p:txBody>
      </p:sp>
      <p:sp>
        <p:nvSpPr>
          <p:cNvPr id="3" name="Shape 1"/>
          <p:cNvSpPr/>
          <p:nvPr/>
        </p:nvSpPr>
        <p:spPr>
          <a:xfrm>
            <a:off x="3767328" y="2331720"/>
            <a:ext cx="0" cy="2240280"/>
          </a:xfrm>
          <a:prstGeom prst="line">
            <a:avLst/>
          </a:prstGeom>
          <a:noFill/>
          <a:ln w="19050">
            <a:solidFill>
              <a:srgbClr val="E4EA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60520" y="23957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60520" y="2724912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Launching the hero product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160520" y="3493008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I'd bring The Inside Addition to market - the creative angle, the campaign landing page, the funnel, and how I'd measure success.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9184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A00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ZyG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835640" y="633679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11111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Stripes
</a:t>
            </a:r>
            <a:pPr algn="r" indent="0" marL="0">
              <a:lnSpc>
                <a:spcPct val="95000"/>
              </a:lnSpc>
              <a:buNone/>
            </a:pPr>
            <a:r>
              <a:rPr lang="en-US" sz="500" b="1" spc="300" kern="0" dirty="0">
                <a:solidFill>
                  <a:srgbClr val="11111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1206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LAUNCH STRATEGY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angle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"Your daily addition. </a:t>
            </a:r>
            <a:pPr indent="0" marL="0">
              <a:lnSpc>
                <a:spcPct val="130000"/>
              </a:lnSpc>
              <a:buNone/>
            </a:pPr>
            <a:r>
              <a:rPr lang="en-US" sz="2300" b="1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 like yourself again</a:t>
            </a:r>
            <a:pPr indent="0" marL="0">
              <a:lnSpc>
                <a:spcPct val="130000"/>
              </a:lnSpc>
              <a:buNone/>
            </a:pPr>
            <a:r>
              <a:rPr lang="en-US" sz="2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."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being just another menopause supplement, The Inside Addition becomes a 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daily habit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naturally fits into a woman's routine and supports her from the inside out.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4920" y="16916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ANGLE?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74920" y="201168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0A2540"/>
          </a:solidFill>
          <a:ln/>
        </p:spPr>
      </p:sp>
      <p:sp>
        <p:nvSpPr>
          <p:cNvPr id="8" name="Text 6"/>
          <p:cNvSpPr/>
          <p:nvPr/>
        </p:nvSpPr>
        <p:spPr>
          <a:xfrm>
            <a:off x="507492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32120" y="199339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on the product name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532120" y="22860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Inside Addition" becomes part of the story, not just the label.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74920" y="267004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0A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26517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the brand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532120" y="294436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and supportive, not clinical or fear-based.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74920" y="3328416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0A2540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3328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32120" y="331012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the product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532120" y="3694176"/>
            <a:ext cx="64008" cy="64008"/>
          </a:xfrm>
          <a:prstGeom prst="ellipse">
            <a:avLst/>
          </a:prstGeom>
          <a:solidFill>
            <a:srgbClr val="3E63DD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36393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menopause symptom support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595360" y="3694176"/>
            <a:ext cx="64008" cy="64008"/>
          </a:xfrm>
          <a:prstGeom prst="ellipse">
            <a:avLst/>
          </a:prstGeom>
          <a:solidFill>
            <a:srgbClr val="3E63DD"/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0" y="36393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Hormone-free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532120" y="3986784"/>
            <a:ext cx="64008" cy="64008"/>
          </a:xfrm>
          <a:prstGeom prst="ellipse">
            <a:avLst/>
          </a:prstGeom>
          <a:solidFill>
            <a:srgbClr val="3E63DD"/>
          </a:solidFill>
          <a:ln/>
        </p:spPr>
      </p:sp>
      <p:sp>
        <p:nvSpPr>
          <p:cNvPr id="23" name="Text 21"/>
          <p:cNvSpPr/>
          <p:nvPr/>
        </p:nvSpPr>
        <p:spPr>
          <a:xfrm>
            <a:off x="5715000" y="39319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daily function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595360" y="3986784"/>
            <a:ext cx="64008" cy="64008"/>
          </a:xfrm>
          <a:prstGeom prst="ellipse">
            <a:avLst/>
          </a:prstGeom>
          <a:solidFill>
            <a:srgbClr val="3E63DD"/>
          </a:solidFill>
          <a:ln/>
        </p:spPr>
      </p:sp>
      <p:sp>
        <p:nvSpPr>
          <p:cNvPr id="25" name="Text 23"/>
          <p:cNvSpPr/>
          <p:nvPr/>
        </p:nvSpPr>
        <p:spPr>
          <a:xfrm>
            <a:off x="8778240" y="39319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Eases stress, brain fog &amp; hot flashes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74920" y="4370832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0A2540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4370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32120" y="435254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Stands apart from competitors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5532120" y="464515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menopause brands focus on a single symptom. The Inside Addition becomes everyday support through every stage of menopause.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31520" y="5440680"/>
            <a:ext cx="10725912" cy="0"/>
          </a:xfrm>
          <a:prstGeom prst="line">
            <a:avLst/>
          </a:prstGeom>
          <a:noFill/>
          <a:ln w="12700">
            <a:solidFill>
              <a:srgbClr val="EDF0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596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ON THE EXISTING BRAND MESSAGE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0" y="559612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"Show yourself love from the inside, out."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9184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A00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ZyG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0835640" y="633679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11111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Stripes
</a:t>
            </a:r>
            <a:pPr algn="r" indent="0" marL="0">
              <a:lnSpc>
                <a:spcPct val="95000"/>
              </a:lnSpc>
              <a:buNone/>
            </a:pPr>
            <a:r>
              <a:rPr lang="en-US" sz="500" b="1" spc="300" kern="0" dirty="0">
                <a:solidFill>
                  <a:srgbClr val="11111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zyg-home-assignment/diagrams/slides/p2-03-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zyg-home-assignment/diagrams/slides/p2-04-fun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zyg-home-assignment/diagrams/slides/p2-05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1206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· FUNNEL OPTIMIZATION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strategy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5239512" cy="1143000"/>
          </a:xfrm>
          <a:prstGeom prst="roundRect">
            <a:avLst>
              <a:gd name="adj" fmla="val 8800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2084832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EEF1FE"/>
          </a:solidFill>
          <a:ln/>
        </p:spPr>
      </p:sp>
      <p:sp>
        <p:nvSpPr>
          <p:cNvPr id="6" name="Text 4"/>
          <p:cNvSpPr/>
          <p:nvPr/>
        </p:nvSpPr>
        <p:spPr>
          <a:xfrm>
            <a:off x="1024128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◇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212140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FUNNEL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737360" y="23591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Homepage → Product Detail Page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239512" cy="1143000"/>
          </a:xfrm>
          <a:prstGeom prst="roundRect">
            <a:avLst>
              <a:gd name="adj" fmla="val 8800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2084832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EEF1FE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23760" y="212140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SOURCE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223760" y="23591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Social (Meta)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3127248"/>
            <a:ext cx="10725912" cy="2834640"/>
          </a:xfrm>
          <a:prstGeom prst="roundRect">
            <a:avLst>
              <a:gd name="adj" fmla="val 3548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34015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EF1FE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3474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05840" y="411480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0A2540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08760" y="409651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high-impact opportunities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before micro-optimizations.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05840" y="4681728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0A2540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68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08760" y="46634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relatively limited traffic, prioritize experiments that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maximize learning while targeting meaningful business impact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05840" y="5248656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0A2540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5248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08760" y="523036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hypotheses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validate them through A/B testing.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29184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A00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ZyG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835640" y="633679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11111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Stripes
</a:t>
            </a:r>
            <a:pPr algn="r" indent="0" marL="0">
              <a:lnSpc>
                <a:spcPct val="95000"/>
              </a:lnSpc>
              <a:buNone/>
            </a:pPr>
            <a:r>
              <a:rPr lang="en-US" sz="500" b="1" spc="300" kern="0" dirty="0">
                <a:solidFill>
                  <a:srgbClr val="11111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BEAUTY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zyg-home-assignment/diagrams/slides/p3-02-ex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zyg-home-assignment/diagrams/slides/p3-03-exp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zyg-home-assignment/diagrams/slides/p3-04-exp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84832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00" b="1" dirty="0">
                <a:solidFill>
                  <a:srgbClr val="E4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200" dirty="0"/>
          </a:p>
        </p:txBody>
      </p:sp>
      <p:sp>
        <p:nvSpPr>
          <p:cNvPr id="3" name="Shape 1"/>
          <p:cNvSpPr/>
          <p:nvPr/>
        </p:nvSpPr>
        <p:spPr>
          <a:xfrm>
            <a:off x="3767328" y="2331720"/>
            <a:ext cx="0" cy="2240280"/>
          </a:xfrm>
          <a:prstGeom prst="line">
            <a:avLst/>
          </a:prstGeom>
          <a:noFill/>
          <a:ln w="19050">
            <a:solidFill>
              <a:srgbClr val="E4EA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60520" y="23957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60520" y="2724912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Growth Teams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160520" y="3493008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 could build one AI capability for ZyG's growth team, this is where I'd start.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9184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A00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ZyG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835640" y="633679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11111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Stripes
</a:t>
            </a:r>
            <a:pPr algn="r" indent="0" marL="0">
              <a:lnSpc>
                <a:spcPct val="95000"/>
              </a:lnSpc>
              <a:buNone/>
            </a:pPr>
            <a:r>
              <a:rPr lang="en-US" sz="500" b="1" spc="300" kern="0" dirty="0">
                <a:solidFill>
                  <a:srgbClr val="11111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BEAUTY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1206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changed the bottleneck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5257800" cy="2788920"/>
          </a:xfrm>
          <a:prstGeom prst="roundRect">
            <a:avLst>
              <a:gd name="adj" fmla="val 3607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4128" y="20574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ALREADY HELPS TEAMS CREATE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24128" y="2395728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 w="9525">
            <a:solidFill>
              <a:srgbClr val="EDF0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3957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51176" y="239572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 w="9525">
            <a:solidFill>
              <a:srgbClr val="EDF0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51176" y="239572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creatives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41064" y="2395728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 w="9525">
            <a:solidFill>
              <a:srgbClr val="EDF0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41064" y="23957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variations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24128" y="2852928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 w="9525">
            <a:solidFill>
              <a:srgbClr val="EDF0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28529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 variants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24128" y="35661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assets is becoming easier than ever. The harder question is deciding what to build.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783080"/>
            <a:ext cx="5239512" cy="2788920"/>
          </a:xfrm>
          <a:prstGeom prst="roundRect">
            <a:avLst>
              <a:gd name="adj" fmla="val 4262"/>
            </a:avLst>
          </a:prstGeom>
          <a:solidFill>
            <a:srgbClr val="EEF1FE"/>
          </a:solidFill>
          <a:ln w="12700">
            <a:solidFill>
              <a:srgbClr val="DCE3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trike="sngStrike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do we build this?"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37960" y="2606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37960" y="29718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should we build next?"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6537960" y="3977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where product teams still spend most of their time.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" y="4846320"/>
            <a:ext cx="10725912" cy="914400"/>
          </a:xfrm>
          <a:prstGeom prst="roundRect">
            <a:avLst>
              <a:gd name="adj" fmla="val 13000"/>
            </a:avLst>
          </a:prstGeom>
          <a:solidFill>
            <a:srgbClr val="0A2540"/>
          </a:solidFill>
          <a:ln/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24128" y="48463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9FC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FOCUS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331720" y="4846320"/>
            <a:ext cx="8759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A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focus isn't making creation faster. It's making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decisions smarter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A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29184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A00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ZyG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835640" y="633679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11111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Stripes
</a:t>
            </a:r>
            <a:pPr algn="r" indent="0" marL="0">
              <a:lnSpc>
                <a:spcPct val="95000"/>
              </a:lnSpc>
              <a:buNone/>
            </a:pPr>
            <a:r>
              <a:rPr lang="en-US" sz="500" b="1" spc="300" kern="0" dirty="0">
                <a:solidFill>
                  <a:srgbClr val="11111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BEAUTY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zyg-home-assignment/diagrams/slides/p4-03-bui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1206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IN THE LOOP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humans in the decision loop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5257800" cy="2743200"/>
          </a:xfrm>
          <a:prstGeom prst="roundRect">
            <a:avLst>
              <a:gd name="adj" fmla="val 3667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4128" y="204825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GOOD AT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42416" y="2542032"/>
            <a:ext cx="91440" cy="91440"/>
          </a:xfrm>
          <a:prstGeom prst="ellipse">
            <a:avLst/>
          </a:prstGeom>
          <a:solidFill>
            <a:srgbClr val="B7C2D3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487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market changes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42416" y="2999232"/>
            <a:ext cx="91440" cy="91440"/>
          </a:xfrm>
          <a:prstGeom prst="ellipse">
            <a:avLst/>
          </a:prstGeom>
          <a:solidFill>
            <a:srgbClr val="B7C2D3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944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Detecting patterns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42416" y="3456432"/>
            <a:ext cx="91440" cy="91440"/>
          </a:xfrm>
          <a:prstGeom prst="ellipse">
            <a:avLst/>
          </a:prstGeom>
          <a:solidFill>
            <a:srgbClr val="B7C2D3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4015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 experiment ideas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42416" y="3913632"/>
            <a:ext cx="91440" cy="91440"/>
          </a:xfrm>
          <a:prstGeom prst="ellipse">
            <a:avLst/>
          </a:prstGeom>
          <a:solidFill>
            <a:srgbClr val="B7C2D3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3858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Preparing experiment briefs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1783080"/>
            <a:ext cx="5257800" cy="2743200"/>
          </a:xfrm>
          <a:prstGeom prst="roundRect">
            <a:avLst>
              <a:gd name="adj" fmla="val 3667"/>
            </a:avLst>
          </a:prstGeom>
          <a:solidFill>
            <a:srgbClr val="FFFFFF"/>
          </a:solidFill>
          <a:ln w="9525">
            <a:solidFill>
              <a:srgbClr val="E7EBF1"/>
            </a:solidFill>
            <a:prstDash val="solid"/>
          </a:ln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10528" y="204825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3E6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TEAMS STILL DECIDE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28816" y="2542032"/>
            <a:ext cx="91440" cy="91440"/>
          </a:xfrm>
          <a:prstGeom prst="ellipse">
            <a:avLst/>
          </a:prstGeom>
          <a:solidFill>
            <a:srgbClr val="3E63DD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2487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this fit our strategy?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28816" y="2999232"/>
            <a:ext cx="91440" cy="91440"/>
          </a:xfrm>
          <a:prstGeom prst="ellipse">
            <a:avLst/>
          </a:prstGeom>
          <a:solidFill>
            <a:srgbClr val="3E63DD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2944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this fit our brand?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28816" y="3456432"/>
            <a:ext cx="91440" cy="91440"/>
          </a:xfrm>
          <a:prstGeom prst="ellipse">
            <a:avLst/>
          </a:prstGeom>
          <a:solidFill>
            <a:srgbClr val="3E63DD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34015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worth building?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528816" y="3913632"/>
            <a:ext cx="91440" cy="91440"/>
          </a:xfrm>
          <a:prstGeom prst="ellipse">
            <a:avLst/>
          </a:prstGeom>
          <a:solidFill>
            <a:srgbClr val="3E63DD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3858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this be our next priority?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31520" y="4800600"/>
            <a:ext cx="10725912" cy="1005840"/>
          </a:xfrm>
          <a:prstGeom prst="roundRect">
            <a:avLst>
              <a:gd name="adj" fmla="val 11818"/>
            </a:avLst>
          </a:prstGeom>
          <a:solidFill>
            <a:srgbClr val="0A2540"/>
          </a:solidFill>
          <a:ln/>
          <a:effectLst>
            <a:outerShdw sx="100000" sy="100000" kx="0" ky="0" algn="bl" rotWithShape="0" blurRad="114300" dist="25400" dir="5400000">
              <a:srgbClr val="102A4D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97280" y="4800600"/>
            <a:ext cx="9994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A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makes sure the team </a:t>
            </a:r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misses an opportunity</a:t>
            </a:r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A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product team decides </a:t>
            </a:r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opportunities are worth pursuing</a:t>
            </a:r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A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29184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A00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ZyG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835640" y="633679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11111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Stripes
</a:t>
            </a:r>
            <a:pPr algn="r" indent="0" marL="0">
              <a:lnSpc>
                <a:spcPct val="95000"/>
              </a:lnSpc>
              <a:buNone/>
            </a:pPr>
            <a:r>
              <a:rPr lang="en-US" sz="500" b="1" spc="300" kern="0" dirty="0">
                <a:solidFill>
                  <a:srgbClr val="11111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Stripes - E-commerce Product &amp; CRO Manager - Home Assignment</dc:title>
  <dc:subject>PptxGenJS Presentation</dc:subject>
  <dc:creator>Yoav Gersi</dc:creator>
  <cp:lastModifiedBy>Yoav Gersi</cp:lastModifiedBy>
  <cp:revision>1</cp:revision>
  <dcterms:created xsi:type="dcterms:W3CDTF">2026-08-01T18:02:54Z</dcterms:created>
  <dcterms:modified xsi:type="dcterms:W3CDTF">2026-08-01T18:02:54Z</dcterms:modified>
</cp:coreProperties>
</file>